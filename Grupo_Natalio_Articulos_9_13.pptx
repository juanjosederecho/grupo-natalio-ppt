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Imagen generada con IA (Cloudflare Workers AI, modelo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IV: arts. 9-10; Capítulo V: arts. 11-12; Capítulo VI: art.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IV, artículo 9: Orientación a los estudiantes.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IV, artículo 10: Orientación a padres, madres y tutores.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V, artículo 11: Monitoreo de las II.EE. y programas.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V, artículo 12: Medidas correctivas a los estudiantes.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 Capítulo VI, artículo 13: Rol de padres, madres y tutores. Ideas parafraseadas del texto oficial. Imagen generada con IA (Cloudflare Workers AI, leonardo/lucid-origin).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Reglamento de la Ley N.º 32385, aprobado por Decreto Supremo N.º 018-2026-MINEDU, Diario Oficial El Peruano, Normas Legales, 3 de octubre de 2026, pp. 13-16.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8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2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80960" cy="6858000"/>
          </a:xfrm>
          <a:prstGeom prst="rect">
            <a:avLst/>
          </a:prstGeom>
          <a:solidFill>
            <a:srgbClr val="0F2A44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640080"/>
            <a:ext cx="109728" cy="91440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603504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UNIVERSIDAD NACIONAL DEL ALTIPLANO – ESCUELA DE POSGRADO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969264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E0A526"/>
                </a:solidFill>
                <a:latin typeface="Poppins"/>
              </a:rPr>
              <a:t>Maestría en Administración de la Educación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Poppins"/>
              </a:rPr>
              <a:t>Reglamento de la</a:t>
            </a:r>
          </a:p>
          <a:p>
            <a:pPr algn="l">
              <a:lnSpc>
                <a:spcPct val="95000"/>
              </a:lnSpc>
            </a:pPr>
            <a:r>
              <a:rPr sz="4000" b="1">
                <a:solidFill>
                  <a:srgbClr val="E0A526"/>
                </a:solidFill>
                <a:latin typeface="Poppins"/>
              </a:rPr>
              <a:t>Ley N.º 32385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1800"/>
            <a:ext cx="6675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FFFFFF"/>
                </a:solidFill>
                <a:latin typeface="Poppins"/>
              </a:rPr>
              <a:t>Ley que regula el uso de teléfonos celulares en todas las instituciones y programas educativos de la Educación Básica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76472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C9D6E0"/>
                </a:solidFill>
                <a:latin typeface="Poppins"/>
              </a:rPr>
              <a:t>Aprobado por D.S. N.º 018-2026-MINEDU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251960"/>
            <a:ext cx="2971800" cy="502920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2971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oppins"/>
              </a:rPr>
              <a:t>Capítulos IV, V y VI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4760" y="4251960"/>
            <a:ext cx="2743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425196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2A44"/>
                </a:solidFill>
                <a:latin typeface="Poppins"/>
              </a:rPr>
              <a:t>Artículos 9 al 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074920"/>
            <a:ext cx="5852160" cy="914400"/>
          </a:xfrm>
          <a:prstGeom prst="roundRect">
            <a:avLst>
              <a:gd name="adj" fmla="val 18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074920"/>
            <a:ext cx="5852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0F2A44"/>
                </a:solidFill>
                <a:latin typeface="Poppins"/>
              </a:rPr>
              <a:t>GRUPO NATALIO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9963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Poppins"/>
              </a:rPr>
              <a:t>Puno,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C7B"/>
                </a:solidFill>
                <a:latin typeface="Poppins"/>
              </a:rPr>
              <a:t>MAPA DE LA EXPOSICIÓN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2A44"/>
                </a:solidFill>
                <a:latin typeface="Poppins"/>
              </a:rPr>
              <a:t>Tres capítulos, cinco artículos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342900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3429000" cy="1234440"/>
          </a:xfrm>
          <a:prstGeom prst="roundRect">
            <a:avLst>
              <a:gd name="adj" fmla="val 18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834640"/>
            <a:ext cx="3429000" cy="3657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CAPÍTULO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774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oppins"/>
              </a:rPr>
              <a:t>IV</a:t>
            </a:r>
          </a:p>
        </p:txBody>
      </p:sp>
      <p:pic>
        <p:nvPicPr>
          <p:cNvPr id="10" name="Picture 9" descr="f19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12848"/>
            <a:ext cx="7315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5840" y="338328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Orientación de las II.EE. y programas a estudiantes y padres de familia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4526280"/>
            <a:ext cx="621792" cy="62179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526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452628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Orientación a los estudiantes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" y="5330952"/>
            <a:ext cx="621792" cy="621792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30952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5330952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Orientación a padres, madres y tutores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7407" y="1965960"/>
            <a:ext cx="342900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07407" y="1965960"/>
            <a:ext cx="3429000" cy="1234440"/>
          </a:xfrm>
          <a:prstGeom prst="roundRect">
            <a:avLst>
              <a:gd name="adj" fmla="val 18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07407" y="2834640"/>
            <a:ext cx="3429000" cy="36576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1727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CAPÍTULO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7" y="23774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oppins"/>
              </a:rPr>
              <a:t>V</a:t>
            </a:r>
          </a:p>
        </p:txBody>
      </p:sp>
      <p:pic>
        <p:nvPicPr>
          <p:cNvPr id="23" name="Picture 22" descr="f06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2212848"/>
            <a:ext cx="731520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681727" y="338328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Monitoreo y aplicación de medidas correctivas por las II.EE. y programas</a:t>
            </a:r>
          </a:p>
        </p:txBody>
      </p:sp>
      <p:sp>
        <p:nvSpPr>
          <p:cNvPr id="25" name="Oval 24"/>
          <p:cNvSpPr/>
          <p:nvPr/>
        </p:nvSpPr>
        <p:spPr>
          <a:xfrm>
            <a:off x="4681727" y="4526280"/>
            <a:ext cx="621792" cy="621792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1727" y="4526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1536" y="452628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Monitoreo de las II.EE. y programas</a:t>
            </a:r>
          </a:p>
        </p:txBody>
      </p:sp>
      <p:sp>
        <p:nvSpPr>
          <p:cNvPr id="28" name="Oval 27"/>
          <p:cNvSpPr/>
          <p:nvPr/>
        </p:nvSpPr>
        <p:spPr>
          <a:xfrm>
            <a:off x="4681727" y="5330952"/>
            <a:ext cx="621792" cy="621792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1727" y="5330952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31536" y="5330952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Medidas correctivas a los estudiantes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3296" y="1965960"/>
            <a:ext cx="342900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83296" y="1965960"/>
            <a:ext cx="3429000" cy="1234440"/>
          </a:xfrm>
          <a:prstGeom prst="roundRect">
            <a:avLst>
              <a:gd name="adj" fmla="val 18000"/>
            </a:avLst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83296" y="2834640"/>
            <a:ext cx="3429000" cy="365760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57616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oppins"/>
              </a:rPr>
              <a:t>CAPÍTULO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7616" y="23774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oppins"/>
              </a:rPr>
              <a:t>VI</a:t>
            </a:r>
          </a:p>
        </p:txBody>
      </p:sp>
      <p:pic>
        <p:nvPicPr>
          <p:cNvPr id="36" name="Picture 35" descr="f015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76" y="2212848"/>
            <a:ext cx="731520" cy="731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57616" y="3383280"/>
            <a:ext cx="2880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Rol de los padres en el uso seguro y responsable por los menores a su cargo</a:t>
            </a:r>
          </a:p>
        </p:txBody>
      </p:sp>
      <p:sp>
        <p:nvSpPr>
          <p:cNvPr id="38" name="Oval 37"/>
          <p:cNvSpPr/>
          <p:nvPr/>
        </p:nvSpPr>
        <p:spPr>
          <a:xfrm>
            <a:off x="8357616" y="4526280"/>
            <a:ext cx="621792" cy="62179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7616" y="4526280"/>
            <a:ext cx="62179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07424" y="4526280"/>
            <a:ext cx="21945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A37"/>
                </a:solidFill>
                <a:latin typeface="Poppins"/>
              </a:rPr>
              <a:t>Rol de padres, madres y tutores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9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7711135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11135" y="0"/>
            <a:ext cx="4480560" cy="6858000"/>
          </a:xfrm>
          <a:prstGeom prst="rect">
            <a:avLst/>
          </a:prstGeom>
          <a:solidFill>
            <a:srgbClr val="0E7C7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IV  ·  ORIENTACIÓN A ESTUDIANTES Y PADRES DE FAMILIA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E7C7B"/>
                </a:solidFill>
                <a:latin typeface="Poppins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Orientación a los estudiantes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7063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1691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c0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3953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564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Las II.EE. y programas orientan a estudiantes de todos los niveles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9646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364274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132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3953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Sobre el uso seguro y responsable del celular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62229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56857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24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3953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5564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Informan los beneficios y perjuicios de su uso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54812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" y="549440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2d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3953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564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En el marco de las competencias del currículo vigente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0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0E7C7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4924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IV  ·  ORIENTACIÓN A ESTUDIANTES Y PADRES DE FAMILIA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E7C7B"/>
                </a:solidFill>
                <a:latin typeface="Poppin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Orientación a padres, madres y tutores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277063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394960" y="271691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15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82009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Orientar a las familias sobre el uso del celular por sus hijos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0" y="369646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94960" y="364274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1eb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2009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Reducir la sobreexposición a internet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4622292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94960" y="4568571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05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82009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Combatir el ciberacoso y promover una sana convivencia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2064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0" y="5548121"/>
            <a:ext cx="73152" cy="45948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94960" y="5494400"/>
            <a:ext cx="566928" cy="566928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04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82009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Cuidar la salud física y mental de los estudiantes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1_4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7711135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11135" y="0"/>
            <a:ext cx="4480560" cy="6858000"/>
          </a:xfrm>
          <a:prstGeom prst="rect">
            <a:avLst/>
          </a:prstGeom>
          <a:solidFill>
            <a:srgbClr val="0F2A4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V  ·  MONITOREO Y MEDIDAS CORRECTIVAS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F2A44"/>
                </a:solidFill>
                <a:latin typeface="Poppin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Monitoreo de las II.EE. y programas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7063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1691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6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3953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564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Vigilar el cumplimiento de la Ley y el reglamento con respeto a la dignidad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69646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364274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023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3953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Sin revisar el contenido de los celulares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62229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56857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071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3953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5564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Ciberacoso: actuar según el D.S. N.º 004-2018-MINEDU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54812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" y="549440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e3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3953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564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Hechos de relevancia penal: comunicar de inmediato a las autoridades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2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0F2A4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4924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V  ·  MONITOREO Y MEDIDAS CORRECTIVAS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0F2A44"/>
                </a:solidFill>
                <a:latin typeface="Poppins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Medidas correctivas a los estudiantes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60604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277063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394960" y="271691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ea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85407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820095" y="260604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60604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Se fijan en el reglamento interno, sin contravenir la Ley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353187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0" y="369646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94960" y="364274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118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3779901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20095" y="353187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353187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Claras, oportunas, reparadoras y formativas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457700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4622292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94960" y="4568571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24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4705731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820095" y="4457700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4457700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Razonables, proporcionales y graduales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20640" y="5383529"/>
            <a:ext cx="6430975" cy="78867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0" y="5548121"/>
            <a:ext cx="73152" cy="459486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94960" y="5494400"/>
            <a:ext cx="566928" cy="566928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f086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5631561"/>
            <a:ext cx="292608" cy="2926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820095" y="5383529"/>
            <a:ext cx="548640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5383529"/>
            <a:ext cx="4446727" cy="7886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A37"/>
                </a:solidFill>
                <a:latin typeface="Poppins"/>
              </a:rPr>
              <a:t>Se informa a la familia con pertinencia cultural y lingüística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13_2.jpg"/>
          <p:cNvPicPr>
            <a:picLocks noChangeAspect="1"/>
          </p:cNvPicPr>
          <p:nvPr/>
        </p:nvPicPr>
        <p:blipFill>
          <a:blip r:embed="rId2"/>
          <a:srcRect l="8000" r="8000"/>
          <a:stretch>
            <a:fillRect/>
          </a:stretch>
        </p:blipFill>
        <p:spPr>
          <a:xfrm>
            <a:off x="7711135" y="0"/>
            <a:ext cx="44805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11135" y="0"/>
            <a:ext cx="4480560" cy="6858000"/>
          </a:xfrm>
          <a:prstGeom prst="rect">
            <a:avLst/>
          </a:prstGeom>
          <a:solidFill>
            <a:srgbClr val="C85A3A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457200"/>
            <a:ext cx="6430975" cy="420624"/>
          </a:xfrm>
          <a:prstGeom prst="roundRect">
            <a:avLst>
              <a:gd name="adj" fmla="val 50000"/>
            </a:avLst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57200"/>
            <a:ext cx="597377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oppins"/>
              </a:rPr>
              <a:t>CAPÍTULO VI  ·  ROL DE LOS PADRES DE FAMILIA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2194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600" b="1">
                <a:solidFill>
                  <a:srgbClr val="E0A526"/>
                </a:solidFill>
                <a:latin typeface="Poppins"/>
              </a:rPr>
              <a:t>ART.</a:t>
            </a:r>
          </a:p>
          <a:p>
            <a:pPr algn="l">
              <a:lnSpc>
                <a:spcPct val="85000"/>
              </a:lnSpc>
            </a:pPr>
            <a:r>
              <a:rPr sz="6000" b="1">
                <a:solidFill>
                  <a:srgbClr val="C85A3A"/>
                </a:solidFill>
                <a:latin typeface="Poppins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234440"/>
            <a:ext cx="54864" cy="9601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097280"/>
            <a:ext cx="4190695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2A44"/>
                </a:solidFill>
                <a:latin typeface="Poppins"/>
              </a:rPr>
              <a:t>Rol de padres, madres y tutores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6430975" cy="1054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70632"/>
            <a:ext cx="73152" cy="725424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76728"/>
            <a:ext cx="713232" cy="71323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015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13888"/>
            <a:ext cx="438912" cy="438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39535" y="2606040"/>
            <a:ext cx="548640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1952" y="2606040"/>
            <a:ext cx="4300423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2A37"/>
                </a:solidFill>
                <a:latin typeface="Poppins"/>
              </a:rPr>
              <a:t>Fuera de la escuela y sin actividades educativas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61816"/>
            <a:ext cx="6430975" cy="1054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026408"/>
            <a:ext cx="73152" cy="725424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032504"/>
            <a:ext cx="713232" cy="71323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0c0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169664"/>
            <a:ext cx="438912" cy="438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39535" y="3861816"/>
            <a:ext cx="548640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01952" y="3861816"/>
            <a:ext cx="4300423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2A37"/>
                </a:solidFill>
                <a:latin typeface="Poppins"/>
              </a:rPr>
              <a:t>Padres, madres y tutores asumen el rol protagónico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17592"/>
            <a:ext cx="6430975" cy="1054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282184"/>
            <a:ext cx="73152" cy="725424"/>
          </a:xfrm>
          <a:prstGeom prst="rect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5288280"/>
            <a:ext cx="713232" cy="713232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132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425440"/>
            <a:ext cx="438912" cy="4389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39535" y="5117592"/>
            <a:ext cx="548640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1">
                <a:solidFill>
                  <a:srgbClr val="E0A526"/>
                </a:solidFill>
                <a:latin typeface="Poppin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1952" y="5117592"/>
            <a:ext cx="4300423" cy="1054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F2A37"/>
                </a:solidFill>
                <a:latin typeface="Poppins"/>
              </a:rPr>
              <a:t>Promueven el uso seguro y responsable del celular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19088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775"/>
                </a:solidFill>
                <a:latin typeface="Poppins"/>
              </a:rPr>
              <a:t>Reglamento de la Ley N.º 32385  ·  GRUPO NATALIO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e_1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0A526"/>
                </a:solidFill>
                <a:latin typeface="Poppins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oppins"/>
              </a:rPr>
              <a:t>Escuela y familia, juntas por un uso seguro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377439"/>
            <a:ext cx="731520" cy="73152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19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" y="2532887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20240" y="2395727"/>
            <a:ext cx="2057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C7B"/>
                </a:solidFill>
                <a:latin typeface="Poppins"/>
              </a:rPr>
              <a:t>Cap. IV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2A44"/>
                </a:solidFill>
                <a:latin typeface="Poppins"/>
              </a:rPr>
              <a:t>Orientar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30752"/>
            <a:ext cx="2880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A estudiantes y familias: beneficios, riesgos y uso responsable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63440" y="2377439"/>
            <a:ext cx="731520" cy="731520"/>
          </a:xfrm>
          <a:prstGeom prst="ellipse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06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2532887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77840" y="2395727"/>
            <a:ext cx="2057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A44"/>
                </a:solidFill>
                <a:latin typeface="Poppins"/>
              </a:rPr>
              <a:t>Cap. 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2A44"/>
                </a:solidFill>
                <a:latin typeface="Poppins"/>
              </a:rPr>
              <a:t>Monitorear y corregir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730752"/>
            <a:ext cx="2880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Con respeto a la dignidad y medidas formativas y proporcionales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1031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21040" y="2377439"/>
            <a:ext cx="731520" cy="731520"/>
          </a:xfrm>
          <a:prstGeom prst="ellipse">
            <a:avLst/>
          </a:prstGeom>
          <a:solidFill>
            <a:srgbClr val="C8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015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488" y="2532887"/>
            <a:ext cx="420624" cy="4206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35440" y="2395727"/>
            <a:ext cx="2057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5A3A"/>
                </a:solidFill>
                <a:latin typeface="Poppins"/>
              </a:rPr>
              <a:t>Cap. VI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2A44"/>
                </a:solidFill>
                <a:latin typeface="Poppins"/>
              </a:rPr>
              <a:t>Acompañar en casa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730752"/>
            <a:ext cx="2880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B6775"/>
                </a:solidFill>
                <a:latin typeface="Poppins"/>
              </a:rPr>
              <a:t>Los padres promueven el uso seguro fuera de la escuela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7492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Poppins"/>
              </a:rPr>
              <a:t>¡Gracias!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5257800"/>
            <a:ext cx="3886200" cy="777240"/>
          </a:xfrm>
          <a:prstGeom prst="roundRect">
            <a:avLst>
              <a:gd name="adj" fmla="val 20000"/>
            </a:avLst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5257800"/>
            <a:ext cx="3886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F2A44"/>
                </a:solidFill>
                <a:latin typeface="Poppins"/>
              </a:rPr>
              <a:t>GRUPO NATALIO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172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DDE5EC"/>
                </a:solidFill>
                <a:latin typeface="Poppins"/>
              </a:rPr>
              <a:t>Maestría en Administración de la Educación · Escuela de Posgrado UNA Puno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