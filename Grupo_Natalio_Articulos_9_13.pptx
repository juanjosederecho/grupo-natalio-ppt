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Reglamento de la Ley N.º 32385, aprobado por Decreto Supremo N.º 018-2026-MINEDU, Diario Oficial El Peruano, Normas Legales, 3 de octubre de 2026, pp. 13-16. Imagen generada con IA (Cloudflare Workers AI, modelo leonardo/lucid-origin).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Reglamento de la Ley N.º 32385, aprobado por Decreto Supremo N.º 018-2026-MINEDU, Diario Oficial El Peruano, Normas Legales, 3 de octubre de 2026, pp. 13-16. Capítulo IV: arts. 9-10; Capítulo V: arts. 11-12; Capítulo VI: art. 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Reglamento de la Ley N.º 32385, aprobado por Decreto Supremo N.º 018-2026-MINEDU, Diario Oficial El Peruano, Normas Legales, 3 de octubre de 2026, pp. 13-16. Capítulo IV, artículo 9: Orientación a los estudiantes. Ideas parafraseadas del texto oficial. Imagen generada con IA (Cloudflare Workers AI, leonardo/lucid-origin).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Reglamento de la Ley N.º 32385, aprobado por Decreto Supremo N.º 018-2026-MINEDU, Diario Oficial El Peruano, Normas Legales, 3 de octubre de 2026, pp. 13-16. Capítulo IV, artículo 10: Orientación a padres, madres y tutores. Ideas parafraseadas del texto oficial. Imagen generada con IA (Cloudflare Workers AI, leonardo/lucid-origin).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Reglamento de la Ley N.º 32385, aprobado por Decreto Supremo N.º 018-2026-MINEDU, Diario Oficial El Peruano, Normas Legales, 3 de octubre de 2026, pp. 13-16. Capítulo V, artículo 11: Monitoreo de las II.EE. y programas. Ideas parafraseadas del texto oficial. Imagen generada con IA (Cloudflare Workers AI, leonardo/lucid-origin).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Reglamento de la Ley N.º 32385, aprobado por Decreto Supremo N.º 018-2026-MINEDU, Diario Oficial El Peruano, Normas Legales, 3 de octubre de 2026, pp. 13-16. Capítulo V, artículo 12: Medidas correctivas a los estudiantes. Ideas parafraseadas del texto oficial. Imagen generada con IA (Cloudflare Workers AI, leonardo/lucid-origin).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Reglamento de la Ley N.º 32385, aprobado por Decreto Supremo N.º 018-2026-MINEDU, Diario Oficial El Peruano, Normas Legales, 3 de octubre de 2026, pp. 13-16. Capítulo VI, artículo 13: Rol de padres, madres y tutores. Ideas parafraseadas del texto oficial. Imagen generada con IA (Cloudflare Workers AI, leonardo/lucid-origin).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Reglamento de la Ley N.º 32385, aprobado por Decreto Supremo N.º 018-2026-MINEDU, Diario Oficial El Peruano, Normas Legales, 3 de octubre de 2026, pp. 13-16. Reglamento Interno 2026 de la I.E.S. Jornada Escolar Completa “Rosaspata” (Rosaspata, Huancané, Puno), aprobado por R.D. N.º 012-2026-DIR-IES “R”/R. Propuestas: (1) Nuevo artículo sobre uso del celular en clase, actualizando la norma de convivencia 8 del Art. 134° y el deber 18 del Art. 136° (Tít. V, Cap. I). (2) Art. 9 → incluir el uso seguro y responsable del celular entre los programas de TOE del Art. 103° (Tít. IV, Cap. IV, Tutoría). (3) Arts. 10 y 13 → ampliar el Art. 152° (Tít. V, Cap. VI, De los Padres de Familia) con orientación a familias y compromisos de uso responsable en casa. (4) Art. 11 → en el Tít. III, Cap. X (Clima escolar), Art. 69° (SISEVE y cuaderno de incidencias): monitoreo con respeto a la dignidad, sin revisar el contenido de los celulares; ciberacoso según D.S. N.º 004-2018-MINEDU. (5) Art. 12 → revisar las faltas y medidas de los Arts. 141°–145° (falta leve 11, falta grave 17) para que sean claras, oportunas, reparadoras, formativas, razonables, proporcionales y graduales, informando a la familia.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Reglamento de la Ley N.º 32385, aprobado por Decreto Supremo N.º 018-2026-MINEDU, Diario Oficial El Peruano, Normas Legales, 3 de octubre de 2026, pp. 13-16.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5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4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9.png"/><Relationship Id="rId6" Type="http://schemas.openxmlformats.org/officeDocument/2006/relationships/image" Target="../media/image22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4.png"/><Relationship Id="rId6" Type="http://schemas.openxmlformats.org/officeDocument/2006/relationships/image" Target="../media/image9.png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2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4">
              <a:alpha val="5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80960" cy="6858000"/>
          </a:xfrm>
          <a:prstGeom prst="rect">
            <a:avLst/>
          </a:prstGeom>
          <a:solidFill>
            <a:srgbClr val="0F2A44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640080"/>
            <a:ext cx="109728" cy="91440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603504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Poppins"/>
              </a:rPr>
              <a:t>UNIVERSIDAD NACIONAL DEL ALTIPLANO – ESCUELA DE POSGRADO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969264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E0A526"/>
                </a:solidFill>
                <a:latin typeface="Poppins"/>
              </a:rPr>
              <a:t>Maestría en Administración de la Educación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72768"/>
            <a:ext cx="6766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Poppins"/>
              </a:rPr>
              <a:t>Reglamento de la</a:t>
            </a:r>
          </a:p>
          <a:p>
            <a:pPr algn="l">
              <a:lnSpc>
                <a:spcPct val="95000"/>
              </a:lnSpc>
            </a:pPr>
            <a:r>
              <a:rPr sz="4000" b="1">
                <a:solidFill>
                  <a:srgbClr val="E0A526"/>
                </a:solidFill>
                <a:latin typeface="Poppins"/>
              </a:rPr>
              <a:t>Ley N.º 32385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71800"/>
            <a:ext cx="6675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>
                <a:solidFill>
                  <a:srgbClr val="FFFFFF"/>
                </a:solidFill>
                <a:latin typeface="Poppins"/>
              </a:rPr>
              <a:t>Ley que regula el uso de teléfonos celulares en todas las instituciones y programas educativos de la Educación Básica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776472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C9D6E0"/>
                </a:solidFill>
                <a:latin typeface="Poppins"/>
              </a:rPr>
              <a:t>Aprobado por D.S. N.º 018-2026-MINEDU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251960"/>
            <a:ext cx="2971800" cy="502920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251960"/>
            <a:ext cx="2971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Poppins"/>
              </a:rPr>
              <a:t>Capítulos IV, V y VI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94760" y="4251960"/>
            <a:ext cx="27432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94760" y="4251960"/>
            <a:ext cx="2743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2A44"/>
                </a:solidFill>
                <a:latin typeface="Poppins"/>
              </a:rPr>
              <a:t>Artículos 9 al 13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074920"/>
            <a:ext cx="5852160" cy="914400"/>
          </a:xfrm>
          <a:prstGeom prst="roundRect">
            <a:avLst>
              <a:gd name="adj" fmla="val 18000"/>
            </a:avLst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074920"/>
            <a:ext cx="58521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0F2A44"/>
                </a:solidFill>
                <a:latin typeface="Poppins"/>
              </a:rPr>
              <a:t>GRUPO NATALIO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199632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Poppins"/>
              </a:rPr>
              <a:t>Puno, 2026</a:t>
            </a:r>
          </a:p>
        </p:txBody>
      </p:sp>
      <p:sp>
        <p:nvSpPr>
          <p:cNvPr id="18" name="Oval 17"/>
          <p:cNvSpPr/>
          <p:nvPr/>
        </p:nvSpPr>
        <p:spPr>
          <a:xfrm>
            <a:off x="8394192" y="1143000"/>
            <a:ext cx="3200400" cy="3200400"/>
          </a:xfrm>
          <a:prstGeom prst="ellipse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res_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252728"/>
            <a:ext cx="2980944" cy="2980944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8211312" y="4553712"/>
            <a:ext cx="3566160" cy="548640"/>
          </a:xfrm>
          <a:prstGeom prst="roundRect">
            <a:avLst>
              <a:gd name="adj" fmla="val 50000"/>
            </a:avLst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2" y="4553712"/>
            <a:ext cx="3566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F2A44"/>
                </a:solidFill>
                <a:latin typeface="Poppins"/>
              </a:rPr>
              <a:t>Presidente · Grupo Natalio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C7B"/>
                </a:solidFill>
                <a:latin typeface="Poppins"/>
              </a:rPr>
              <a:t>MAPA DE LA EXPOSICIÓN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0F2A44"/>
                </a:solidFill>
                <a:latin typeface="Poppins"/>
              </a:rPr>
              <a:t>Tres capítulos, cinco artículos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65960"/>
            <a:ext cx="3429000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3429000" cy="1234440"/>
          </a:xfrm>
          <a:prstGeom prst="roundRect">
            <a:avLst>
              <a:gd name="adj" fmla="val 18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834640"/>
            <a:ext cx="3429000" cy="36576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Poppins"/>
              </a:rPr>
              <a:t>CAPÍTULO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77440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Poppins"/>
              </a:rPr>
              <a:t>IV</a:t>
            </a:r>
          </a:p>
        </p:txBody>
      </p:sp>
      <p:pic>
        <p:nvPicPr>
          <p:cNvPr id="10" name="Picture 9" descr="f19d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212848"/>
            <a:ext cx="731520" cy="731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05840" y="3383280"/>
            <a:ext cx="2880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5B6775"/>
                </a:solidFill>
                <a:latin typeface="Poppins"/>
              </a:rPr>
              <a:t>Orientación de las II.EE. y programas a estudiantes y padres de familia</a:t>
            </a:r>
          </a:p>
        </p:txBody>
      </p:sp>
      <p:sp>
        <p:nvSpPr>
          <p:cNvPr id="12" name="Oval 11"/>
          <p:cNvSpPr/>
          <p:nvPr/>
        </p:nvSpPr>
        <p:spPr>
          <a:xfrm>
            <a:off x="1005840" y="4526280"/>
            <a:ext cx="621792" cy="621792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526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oppins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55648" y="4526280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A37"/>
                </a:solidFill>
                <a:latin typeface="Poppins"/>
              </a:rPr>
              <a:t>Orientación a los estudiantes</a:t>
            </a:r>
          </a:p>
        </p:txBody>
      </p:sp>
      <p:sp>
        <p:nvSpPr>
          <p:cNvPr id="15" name="Oval 14"/>
          <p:cNvSpPr/>
          <p:nvPr/>
        </p:nvSpPr>
        <p:spPr>
          <a:xfrm>
            <a:off x="1005840" y="5330952"/>
            <a:ext cx="621792" cy="621792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330952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oppins"/>
              </a:rP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5648" y="5330952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A37"/>
                </a:solidFill>
                <a:latin typeface="Poppins"/>
              </a:rPr>
              <a:t>Orientación a padres, madres y tutores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07407" y="1965960"/>
            <a:ext cx="3429000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407407" y="1965960"/>
            <a:ext cx="3429000" cy="1234440"/>
          </a:xfrm>
          <a:prstGeom prst="roundRect">
            <a:avLst>
              <a:gd name="adj" fmla="val 18000"/>
            </a:avLst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07407" y="2834640"/>
            <a:ext cx="3429000" cy="365760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81727" y="210312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Poppins"/>
              </a:rPr>
              <a:t>CAPÍTULO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1727" y="2377440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Poppins"/>
              </a:rPr>
              <a:t>V</a:t>
            </a:r>
          </a:p>
        </p:txBody>
      </p:sp>
      <p:pic>
        <p:nvPicPr>
          <p:cNvPr id="23" name="Picture 22" descr="f06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288" y="2212848"/>
            <a:ext cx="731520" cy="7315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681727" y="3383280"/>
            <a:ext cx="2880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5B6775"/>
                </a:solidFill>
                <a:latin typeface="Poppins"/>
              </a:rPr>
              <a:t>Monitoreo y aplicación de medidas correctivas por las II.EE. y programas</a:t>
            </a:r>
          </a:p>
        </p:txBody>
      </p:sp>
      <p:sp>
        <p:nvSpPr>
          <p:cNvPr id="25" name="Oval 24"/>
          <p:cNvSpPr/>
          <p:nvPr/>
        </p:nvSpPr>
        <p:spPr>
          <a:xfrm>
            <a:off x="4681727" y="4526280"/>
            <a:ext cx="621792" cy="621792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1727" y="4526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oppins"/>
              </a:rPr>
              <a:t>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31536" y="4526280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A37"/>
                </a:solidFill>
                <a:latin typeface="Poppins"/>
              </a:rPr>
              <a:t>Monitoreo de las II.EE. y programas</a:t>
            </a:r>
          </a:p>
        </p:txBody>
      </p:sp>
      <p:sp>
        <p:nvSpPr>
          <p:cNvPr id="28" name="Oval 27"/>
          <p:cNvSpPr/>
          <p:nvPr/>
        </p:nvSpPr>
        <p:spPr>
          <a:xfrm>
            <a:off x="4681727" y="5330952"/>
            <a:ext cx="621792" cy="621792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1727" y="5330952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oppins"/>
              </a:rPr>
              <a:t>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31536" y="5330952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A37"/>
                </a:solidFill>
                <a:latin typeface="Poppins"/>
              </a:rPr>
              <a:t>Medidas correctivas a los estudiantes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3296" y="1965960"/>
            <a:ext cx="3429000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083296" y="1965960"/>
            <a:ext cx="3429000" cy="1234440"/>
          </a:xfrm>
          <a:prstGeom prst="roundRect">
            <a:avLst>
              <a:gd name="adj" fmla="val 18000"/>
            </a:avLst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83296" y="2834640"/>
            <a:ext cx="3429000" cy="365760"/>
          </a:xfrm>
          <a:prstGeom prst="rect">
            <a:avLst/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57616" y="210312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Poppins"/>
              </a:rPr>
              <a:t>CAPÍTULO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57616" y="2377440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Poppins"/>
              </a:rPr>
              <a:t>VI</a:t>
            </a:r>
          </a:p>
        </p:txBody>
      </p:sp>
      <p:pic>
        <p:nvPicPr>
          <p:cNvPr id="36" name="Picture 35" descr="f015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52176" y="2212848"/>
            <a:ext cx="731520" cy="7315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357616" y="3383280"/>
            <a:ext cx="2880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5B6775"/>
                </a:solidFill>
                <a:latin typeface="Poppins"/>
              </a:rPr>
              <a:t>Rol de los padres en el uso seguro y responsable por los menores a su cargo</a:t>
            </a:r>
          </a:p>
        </p:txBody>
      </p:sp>
      <p:sp>
        <p:nvSpPr>
          <p:cNvPr id="38" name="Oval 37"/>
          <p:cNvSpPr/>
          <p:nvPr/>
        </p:nvSpPr>
        <p:spPr>
          <a:xfrm>
            <a:off x="8357616" y="4526280"/>
            <a:ext cx="621792" cy="621792"/>
          </a:xfrm>
          <a:prstGeom prst="ellipse">
            <a:avLst/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57616" y="4526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oppins"/>
              </a:rPr>
              <a:t>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07424" y="4526280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A37"/>
                </a:solidFill>
                <a:latin typeface="Poppins"/>
              </a:rPr>
              <a:t>Rol de padres, madres y tutores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9_2.jpg"/>
          <p:cNvPicPr>
            <a:picLocks noChangeAspect="1"/>
          </p:cNvPicPr>
          <p:nvPr/>
        </p:nvPicPr>
        <p:blipFill>
          <a:blip r:embed="rId2"/>
          <a:srcRect l="8000" r="8000"/>
          <a:stretch>
            <a:fillRect/>
          </a:stretch>
        </p:blipFill>
        <p:spPr>
          <a:xfrm>
            <a:off x="7711135" y="0"/>
            <a:ext cx="448056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11135" y="0"/>
            <a:ext cx="4480560" cy="6858000"/>
          </a:xfrm>
          <a:prstGeom prst="rect">
            <a:avLst/>
          </a:prstGeom>
          <a:solidFill>
            <a:srgbClr val="0E7C7B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457200"/>
            <a:ext cx="6430975" cy="420624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57200"/>
            <a:ext cx="597377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Poppins"/>
              </a:rPr>
              <a:t>CAPÍTULO IV  ·  ORIENTACIÓN A ESTUDIANTES Y PADRES DE FAMILIA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51560"/>
            <a:ext cx="2194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5000"/>
              </a:lnSpc>
            </a:pPr>
            <a:r>
              <a:rPr sz="1600" b="1">
                <a:solidFill>
                  <a:srgbClr val="E0A526"/>
                </a:solidFill>
                <a:latin typeface="Poppins"/>
              </a:rPr>
              <a:t>ART.</a:t>
            </a:r>
          </a:p>
          <a:p>
            <a:pPr algn="l">
              <a:lnSpc>
                <a:spcPct val="85000"/>
              </a:lnSpc>
            </a:pPr>
            <a:r>
              <a:rPr sz="6000" b="1">
                <a:solidFill>
                  <a:srgbClr val="0E7C7B"/>
                </a:solidFill>
                <a:latin typeface="Poppins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39" y="1234440"/>
            <a:ext cx="54864" cy="96012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80360" y="1097280"/>
            <a:ext cx="4190695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2A44"/>
                </a:solidFill>
                <a:latin typeface="Poppins"/>
              </a:rPr>
              <a:t>Orientación a los estudiantes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0604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770632"/>
            <a:ext cx="73152" cy="45948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2716911"/>
            <a:ext cx="566928" cy="566928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0c0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854071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39535" y="260604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55648" y="260604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Las II.EE. y programas orientan a estudiantes de todos los niveles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3187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696461"/>
            <a:ext cx="73152" cy="45948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3642740"/>
            <a:ext cx="566928" cy="566928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132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3779901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339535" y="353187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5648" y="353187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Sobre el uso seguro y responsable del celular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5770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622292"/>
            <a:ext cx="73152" cy="45948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568571"/>
            <a:ext cx="566928" cy="566928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f24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4705731"/>
            <a:ext cx="292608" cy="2926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339535" y="445770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55648" y="445770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Informan los beneficios y perjuicios de su uso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383529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5548121"/>
            <a:ext cx="73152" cy="45948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14400" y="5494400"/>
            <a:ext cx="566928" cy="566928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f02d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1560" y="5631561"/>
            <a:ext cx="292608" cy="29260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339535" y="5383529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5648" y="5383529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En el marco de las competencias del currículo vigente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19088"/>
            <a:ext cx="6430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Poppins"/>
              </a:rPr>
              <a:t>Reglamento de la Ley N.º 32385  ·  GRUPO NATALIO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10_2.jpg"/>
          <p:cNvPicPr>
            <a:picLocks noChangeAspect="1"/>
          </p:cNvPicPr>
          <p:nvPr/>
        </p:nvPicPr>
        <p:blipFill>
          <a:blip r:embed="rId2"/>
          <a:srcRect l="8000" r="8000"/>
          <a:stretch>
            <a:fillRect/>
          </a:stretch>
        </p:blipFill>
        <p:spPr>
          <a:xfrm>
            <a:off x="0" y="0"/>
            <a:ext cx="448056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4480560" cy="6858000"/>
          </a:xfrm>
          <a:prstGeom prst="rect">
            <a:avLst/>
          </a:prstGeom>
          <a:solidFill>
            <a:srgbClr val="0E7C7B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120640" y="457200"/>
            <a:ext cx="6430975" cy="420624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49240" y="457200"/>
            <a:ext cx="597377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Poppins"/>
              </a:rPr>
              <a:t>CAPÍTULO IV  ·  ORIENTACIÓN A ESTUDIANTES Y PADRES DE FAMILIA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1051560"/>
            <a:ext cx="2194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5000"/>
              </a:lnSpc>
            </a:pPr>
            <a:r>
              <a:rPr sz="1600" b="1">
                <a:solidFill>
                  <a:srgbClr val="E0A526"/>
                </a:solidFill>
                <a:latin typeface="Poppins"/>
              </a:rPr>
              <a:t>ART.</a:t>
            </a:r>
          </a:p>
          <a:p>
            <a:pPr algn="l">
              <a:lnSpc>
                <a:spcPct val="85000"/>
              </a:lnSpc>
            </a:pPr>
            <a:r>
              <a:rPr sz="6000" b="1">
                <a:solidFill>
                  <a:srgbClr val="0E7C7B"/>
                </a:solidFill>
                <a:latin typeface="Poppins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7086600" y="1234440"/>
            <a:ext cx="54864" cy="96012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60920" y="1097280"/>
            <a:ext cx="4190695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2A44"/>
                </a:solidFill>
                <a:latin typeface="Poppins"/>
              </a:rPr>
              <a:t>Orientación a padres, madres y tutores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260604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0" y="2770632"/>
            <a:ext cx="73152" cy="45948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394960" y="2716911"/>
            <a:ext cx="566928" cy="566928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015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2854071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820095" y="260604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60604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Orientar a las familias sobre el uso del celular por sus hijos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20640" y="353187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0" y="3696461"/>
            <a:ext cx="73152" cy="45948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394960" y="3642740"/>
            <a:ext cx="566928" cy="566928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1eb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3779901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820095" y="353187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353187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Reducir la sobreexposición a internet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0" y="445770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0" y="4622292"/>
            <a:ext cx="73152" cy="45948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394960" y="4568571"/>
            <a:ext cx="566928" cy="566928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f05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2120" y="4705731"/>
            <a:ext cx="292608" cy="2926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820095" y="445770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6208" y="445770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Combatir el ciberacoso y promover una sana convivencia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20640" y="5383529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20640" y="5548121"/>
            <a:ext cx="73152" cy="45948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394960" y="5494400"/>
            <a:ext cx="566928" cy="566928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f004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5631561"/>
            <a:ext cx="292608" cy="29260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820095" y="5383529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8" y="5383529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Cuidar la salud física y mental de los estudiantes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6419088"/>
            <a:ext cx="6430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Poppins"/>
              </a:rPr>
              <a:t>Reglamento de la Ley N.º 32385  ·  GRUPO NATALIO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11_4.jpg"/>
          <p:cNvPicPr>
            <a:picLocks noChangeAspect="1"/>
          </p:cNvPicPr>
          <p:nvPr/>
        </p:nvPicPr>
        <p:blipFill>
          <a:blip r:embed="rId2"/>
          <a:srcRect l="8000" r="8000"/>
          <a:stretch>
            <a:fillRect/>
          </a:stretch>
        </p:blipFill>
        <p:spPr>
          <a:xfrm>
            <a:off x="7711135" y="0"/>
            <a:ext cx="448056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11135" y="0"/>
            <a:ext cx="4480560" cy="6858000"/>
          </a:xfrm>
          <a:prstGeom prst="rect">
            <a:avLst/>
          </a:prstGeom>
          <a:solidFill>
            <a:srgbClr val="0F2A44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457200"/>
            <a:ext cx="6430975" cy="420624"/>
          </a:xfrm>
          <a:prstGeom prst="roundRect">
            <a:avLst>
              <a:gd name="adj" fmla="val 50000"/>
            </a:avLst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57200"/>
            <a:ext cx="597377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Poppins"/>
              </a:rPr>
              <a:t>CAPÍTULO V  ·  MONITOREO Y MEDIDAS CORRECTIVAS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51560"/>
            <a:ext cx="2194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5000"/>
              </a:lnSpc>
            </a:pPr>
            <a:r>
              <a:rPr sz="1600" b="1">
                <a:solidFill>
                  <a:srgbClr val="E0A526"/>
                </a:solidFill>
                <a:latin typeface="Poppins"/>
              </a:rPr>
              <a:t>ART.</a:t>
            </a:r>
          </a:p>
          <a:p>
            <a:pPr algn="l">
              <a:lnSpc>
                <a:spcPct val="85000"/>
              </a:lnSpc>
            </a:pPr>
            <a:r>
              <a:rPr sz="6000" b="1">
                <a:solidFill>
                  <a:srgbClr val="0F2A44"/>
                </a:solidFill>
                <a:latin typeface="Poppins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39" y="1234440"/>
            <a:ext cx="54864" cy="96012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80360" y="1097280"/>
            <a:ext cx="4190695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2A44"/>
                </a:solidFill>
                <a:latin typeface="Poppins"/>
              </a:rPr>
              <a:t>Monitoreo de las II.EE. y programas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0604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770632"/>
            <a:ext cx="73152" cy="459486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2716911"/>
            <a:ext cx="566928" cy="566928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06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854071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39535" y="260604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55648" y="260604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Vigilar el cumplimiento de la Ley y el reglamento con respeto a la dignidad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3187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696461"/>
            <a:ext cx="73152" cy="459486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3642740"/>
            <a:ext cx="566928" cy="566928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023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3779901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339535" y="353187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5648" y="353187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Sin revisar el contenido de los celulares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5770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622292"/>
            <a:ext cx="73152" cy="459486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568571"/>
            <a:ext cx="566928" cy="566928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f071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4705731"/>
            <a:ext cx="292608" cy="2926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339535" y="445770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55648" y="445770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Ciberacoso: actuar según el D.S. N.º 004-2018-MINEDU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383529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5548121"/>
            <a:ext cx="73152" cy="459486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14400" y="5494400"/>
            <a:ext cx="566928" cy="566928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f0e3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1560" y="5631561"/>
            <a:ext cx="292608" cy="29260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339535" y="5383529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5648" y="5383529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Hechos de relevancia penal: comunicar de inmediato a las autoridades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19088"/>
            <a:ext cx="6430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Poppins"/>
              </a:rPr>
              <a:t>Reglamento de la Ley N.º 32385  ·  GRUPO NATALIO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12_2.jpg"/>
          <p:cNvPicPr>
            <a:picLocks noChangeAspect="1"/>
          </p:cNvPicPr>
          <p:nvPr/>
        </p:nvPicPr>
        <p:blipFill>
          <a:blip r:embed="rId2"/>
          <a:srcRect l="8000" r="8000"/>
          <a:stretch>
            <a:fillRect/>
          </a:stretch>
        </p:blipFill>
        <p:spPr>
          <a:xfrm>
            <a:off x="0" y="0"/>
            <a:ext cx="448056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4480560" cy="6858000"/>
          </a:xfrm>
          <a:prstGeom prst="rect">
            <a:avLst/>
          </a:prstGeom>
          <a:solidFill>
            <a:srgbClr val="0F2A44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120640" y="457200"/>
            <a:ext cx="6430975" cy="420624"/>
          </a:xfrm>
          <a:prstGeom prst="roundRect">
            <a:avLst>
              <a:gd name="adj" fmla="val 50000"/>
            </a:avLst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49240" y="457200"/>
            <a:ext cx="597377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Poppins"/>
              </a:rPr>
              <a:t>CAPÍTULO V  ·  MONITOREO Y MEDIDAS CORRECTIVAS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1051560"/>
            <a:ext cx="2194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5000"/>
              </a:lnSpc>
            </a:pPr>
            <a:r>
              <a:rPr sz="1600" b="1">
                <a:solidFill>
                  <a:srgbClr val="E0A526"/>
                </a:solidFill>
                <a:latin typeface="Poppins"/>
              </a:rPr>
              <a:t>ART.</a:t>
            </a:r>
          </a:p>
          <a:p>
            <a:pPr algn="l">
              <a:lnSpc>
                <a:spcPct val="85000"/>
              </a:lnSpc>
            </a:pPr>
            <a:r>
              <a:rPr sz="6000" b="1">
                <a:solidFill>
                  <a:srgbClr val="0F2A44"/>
                </a:solidFill>
                <a:latin typeface="Poppins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7086600" y="1234440"/>
            <a:ext cx="54864" cy="96012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60920" y="1097280"/>
            <a:ext cx="4190695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2A44"/>
                </a:solidFill>
                <a:latin typeface="Poppins"/>
              </a:rPr>
              <a:t>Medidas correctivas a los estudiantes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260604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0" y="2770632"/>
            <a:ext cx="73152" cy="459486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394960" y="2716911"/>
            <a:ext cx="566928" cy="566928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0ea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2854071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820095" y="260604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60604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Se fijan en el reglamento interno, sin contravenir la Ley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20640" y="353187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0" y="3696461"/>
            <a:ext cx="73152" cy="459486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394960" y="3642740"/>
            <a:ext cx="566928" cy="566928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118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3779901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820095" y="353187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353187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Claras, oportunas, reparadoras y formativas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0" y="445770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0" y="4622292"/>
            <a:ext cx="73152" cy="459486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394960" y="4568571"/>
            <a:ext cx="566928" cy="566928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f24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2120" y="4705731"/>
            <a:ext cx="292608" cy="2926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820095" y="445770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6208" y="445770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Razonables, proporcionales y graduales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20640" y="5383529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20640" y="5548121"/>
            <a:ext cx="73152" cy="459486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394960" y="5494400"/>
            <a:ext cx="566928" cy="566928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f086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5631561"/>
            <a:ext cx="292608" cy="29260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820095" y="5383529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8" y="5383529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Se informa a la familia con pertinencia cultural y lingüística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6419088"/>
            <a:ext cx="6430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Poppins"/>
              </a:rPr>
              <a:t>Reglamento de la Ley N.º 32385  ·  GRUPO NATALIO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13_2.jpg"/>
          <p:cNvPicPr>
            <a:picLocks noChangeAspect="1"/>
          </p:cNvPicPr>
          <p:nvPr/>
        </p:nvPicPr>
        <p:blipFill>
          <a:blip r:embed="rId2"/>
          <a:srcRect l="8000" r="8000"/>
          <a:stretch>
            <a:fillRect/>
          </a:stretch>
        </p:blipFill>
        <p:spPr>
          <a:xfrm>
            <a:off x="7711135" y="0"/>
            <a:ext cx="448056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11135" y="0"/>
            <a:ext cx="4480560" cy="6858000"/>
          </a:xfrm>
          <a:prstGeom prst="rect">
            <a:avLst/>
          </a:prstGeom>
          <a:solidFill>
            <a:srgbClr val="C85A3A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457200"/>
            <a:ext cx="6430975" cy="420624"/>
          </a:xfrm>
          <a:prstGeom prst="roundRect">
            <a:avLst>
              <a:gd name="adj" fmla="val 50000"/>
            </a:avLst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57200"/>
            <a:ext cx="597377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Poppins"/>
              </a:rPr>
              <a:t>CAPÍTULO VI  ·  ROL DE LOS PADRES DE FAMILIA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51560"/>
            <a:ext cx="2194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5000"/>
              </a:lnSpc>
            </a:pPr>
            <a:r>
              <a:rPr sz="1600" b="1">
                <a:solidFill>
                  <a:srgbClr val="E0A526"/>
                </a:solidFill>
                <a:latin typeface="Poppins"/>
              </a:rPr>
              <a:t>ART.</a:t>
            </a:r>
          </a:p>
          <a:p>
            <a:pPr algn="l">
              <a:lnSpc>
                <a:spcPct val="85000"/>
              </a:lnSpc>
            </a:pPr>
            <a:r>
              <a:rPr sz="6000" b="1">
                <a:solidFill>
                  <a:srgbClr val="C85A3A"/>
                </a:solidFill>
                <a:latin typeface="Poppins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39" y="1234440"/>
            <a:ext cx="54864" cy="96012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80360" y="1097280"/>
            <a:ext cx="4190695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2A44"/>
                </a:solidFill>
                <a:latin typeface="Poppins"/>
              </a:rPr>
              <a:t>Rol de padres, madres y tutores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06040"/>
            <a:ext cx="6430975" cy="10546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770632"/>
            <a:ext cx="73152" cy="725424"/>
          </a:xfrm>
          <a:prstGeom prst="rect">
            <a:avLst/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2776728"/>
            <a:ext cx="713232" cy="713232"/>
          </a:xfrm>
          <a:prstGeom prst="ellipse">
            <a:avLst/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015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13888"/>
            <a:ext cx="438912" cy="4389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39535" y="2606040"/>
            <a:ext cx="548640" cy="1054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1952" y="2606040"/>
            <a:ext cx="4300423" cy="1054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F2A37"/>
                </a:solidFill>
                <a:latin typeface="Poppins"/>
              </a:rPr>
              <a:t>Fuera de la escuela y sin actividades educativas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861816"/>
            <a:ext cx="6430975" cy="10546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026408"/>
            <a:ext cx="73152" cy="725424"/>
          </a:xfrm>
          <a:prstGeom prst="rect">
            <a:avLst/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4032504"/>
            <a:ext cx="713232" cy="713232"/>
          </a:xfrm>
          <a:prstGeom prst="ellipse">
            <a:avLst/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0c0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4169664"/>
            <a:ext cx="438912" cy="43891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339535" y="3861816"/>
            <a:ext cx="548640" cy="1054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01952" y="3861816"/>
            <a:ext cx="4300423" cy="1054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F2A37"/>
                </a:solidFill>
                <a:latin typeface="Poppins"/>
              </a:rPr>
              <a:t>Padres, madres y tutores asumen el rol protagónico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117592"/>
            <a:ext cx="6430975" cy="10546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282184"/>
            <a:ext cx="73152" cy="725424"/>
          </a:xfrm>
          <a:prstGeom prst="rect">
            <a:avLst/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5288280"/>
            <a:ext cx="713232" cy="713232"/>
          </a:xfrm>
          <a:prstGeom prst="ellipse">
            <a:avLst/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f132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5425440"/>
            <a:ext cx="438912" cy="43891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339535" y="5117592"/>
            <a:ext cx="548640" cy="1054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01952" y="5117592"/>
            <a:ext cx="4300423" cy="1054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F2A37"/>
                </a:solidFill>
                <a:latin typeface="Poppins"/>
              </a:rPr>
              <a:t>Promueven el uso seguro y responsable del celular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19088"/>
            <a:ext cx="6430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Poppins"/>
              </a:rPr>
              <a:t>Reglamento de la Ley N.º 32385  ·  GRUPO NATALIO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C7B"/>
                </a:solidFill>
                <a:latin typeface="Poppins"/>
              </a:rPr>
              <a:t>PROPUESTA  ·  REGLAMENTO INTERNO 2026 DE LA I.E.S. JEC “ROSASPATA”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2A44"/>
                </a:solidFill>
                <a:latin typeface="Poppins"/>
              </a:rPr>
              <a:t>Cómo incorporarlo a nuestro Reglamento Interno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002536" cy="4343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002536" cy="1325880"/>
          </a:xfrm>
          <a:prstGeom prst="roundRect">
            <a:avLst>
              <a:gd name="adj" fmla="val 16000"/>
            </a:avLst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788920"/>
            <a:ext cx="2002536" cy="36576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76172" y="1993392"/>
            <a:ext cx="713232" cy="713232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10b_0F2A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3332" y="2130552"/>
            <a:ext cx="438912" cy="438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2743200"/>
            <a:ext cx="181965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2A44"/>
                </a:solidFill>
                <a:latin typeface="Poppins"/>
              </a:rPr>
              <a:t>Ley 32385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37560"/>
            <a:ext cx="163677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F2A44"/>
                </a:solidFill>
                <a:latin typeface="Poppins"/>
              </a:rPr>
              <a:t>Nuevo artículo: celular en clase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540764" y="4407408"/>
            <a:ext cx="384048" cy="274320"/>
          </a:xfrm>
          <a:prstGeom prst="downArrow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754880"/>
            <a:ext cx="18196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B6775"/>
                </a:solidFill>
                <a:latin typeface="Poppins"/>
              </a:rPr>
              <a:t>EN NUESTRO RI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5047488"/>
            <a:ext cx="1728216" cy="941832"/>
          </a:xfrm>
          <a:prstGeom prst="roundRect">
            <a:avLst>
              <a:gd name="adj" fmla="val 14000"/>
            </a:avLst>
          </a:prstGeom>
          <a:solidFill>
            <a:srgbClr val="E6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093208"/>
            <a:ext cx="1636776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E7C7B"/>
                </a:solidFill>
                <a:latin typeface="Poppins"/>
              </a:rPr>
              <a:t>Arts. 134°–136°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513832"/>
            <a:ext cx="1636776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1F2A37"/>
                </a:solidFill>
                <a:latin typeface="Poppins"/>
              </a:rPr>
              <a:t>Tít. V · Cap. I · Normas y deberes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30652" y="1828800"/>
            <a:ext cx="2002536" cy="4343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930652" y="1828800"/>
            <a:ext cx="2002536" cy="1325880"/>
          </a:xfrm>
          <a:prstGeom prst="roundRect">
            <a:avLst>
              <a:gd name="adj" fmla="val 16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930652" y="2788920"/>
            <a:ext cx="2002536" cy="36576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575304" y="1993392"/>
            <a:ext cx="713232" cy="713232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19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2464" y="2130552"/>
            <a:ext cx="438912" cy="43891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022092" y="2743200"/>
            <a:ext cx="181965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Poppins"/>
              </a:rPr>
              <a:t>Art. 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13532" y="3337560"/>
            <a:ext cx="163677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F2A44"/>
                </a:solidFill>
                <a:latin typeface="Poppins"/>
              </a:rPr>
              <a:t>Tutoría: uso seguro del celular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3739896" y="4407408"/>
            <a:ext cx="384048" cy="274320"/>
          </a:xfrm>
          <a:prstGeom prst="downArrow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22092" y="4754880"/>
            <a:ext cx="18196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B6775"/>
                </a:solidFill>
                <a:latin typeface="Poppins"/>
              </a:rPr>
              <a:t>EN NUESTRO RI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067812" y="5047488"/>
            <a:ext cx="1728216" cy="941832"/>
          </a:xfrm>
          <a:prstGeom prst="roundRect">
            <a:avLst>
              <a:gd name="adj" fmla="val 14000"/>
            </a:avLst>
          </a:prstGeom>
          <a:solidFill>
            <a:srgbClr val="E6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13532" y="5093208"/>
            <a:ext cx="1636776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E7C7B"/>
                </a:solidFill>
                <a:latin typeface="Poppins"/>
              </a:rPr>
              <a:t>Art. 103°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13532" y="5513832"/>
            <a:ext cx="1636776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1F2A37"/>
                </a:solidFill>
                <a:latin typeface="Poppins"/>
              </a:rPr>
              <a:t>Tít. IV · Cap. IV · Tutoría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129783" y="1828800"/>
            <a:ext cx="2002536" cy="4343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129783" y="1828800"/>
            <a:ext cx="2002536" cy="1325880"/>
          </a:xfrm>
          <a:prstGeom prst="roundRect">
            <a:avLst>
              <a:gd name="adj" fmla="val 16000"/>
            </a:avLst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129783" y="2788920"/>
            <a:ext cx="2002536" cy="365760"/>
          </a:xfrm>
          <a:prstGeom prst="rect">
            <a:avLst/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774436" y="1993392"/>
            <a:ext cx="713232" cy="713232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f015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596" y="2130552"/>
            <a:ext cx="438912" cy="43891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221223" y="2743200"/>
            <a:ext cx="181965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Poppins"/>
              </a:rPr>
              <a:t>Arts. 10 y 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12664" y="3337560"/>
            <a:ext cx="163677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F2A44"/>
                </a:solidFill>
                <a:latin typeface="Poppins"/>
              </a:rPr>
              <a:t>Compromisos y orientación a padres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5939027" y="4407408"/>
            <a:ext cx="384048" cy="274320"/>
          </a:xfrm>
          <a:prstGeom prst="downArrow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21223" y="4754880"/>
            <a:ext cx="18196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B6775"/>
                </a:solidFill>
                <a:latin typeface="Poppins"/>
              </a:rPr>
              <a:t>EN NUESTRO RI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266944" y="5047488"/>
            <a:ext cx="1728216" cy="941832"/>
          </a:xfrm>
          <a:prstGeom prst="roundRect">
            <a:avLst>
              <a:gd name="adj" fmla="val 14000"/>
            </a:avLst>
          </a:prstGeom>
          <a:solidFill>
            <a:srgbClr val="E6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12664" y="5093208"/>
            <a:ext cx="1636776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C85A3A"/>
                </a:solidFill>
                <a:latin typeface="Poppins"/>
              </a:rPr>
              <a:t>Art. 152°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12664" y="5513832"/>
            <a:ext cx="1636776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1F2A37"/>
                </a:solidFill>
                <a:latin typeface="Poppins"/>
              </a:rPr>
              <a:t>Tít. V · Cap. VI · Padres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28916" y="1828800"/>
            <a:ext cx="2002536" cy="4343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28916" y="1828800"/>
            <a:ext cx="2002536" cy="1325880"/>
          </a:xfrm>
          <a:prstGeom prst="roundRect">
            <a:avLst>
              <a:gd name="adj" fmla="val 16000"/>
            </a:avLst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328916" y="2788920"/>
            <a:ext cx="2002536" cy="365760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973568" y="1993392"/>
            <a:ext cx="713232" cy="713232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f06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0728" y="2130552"/>
            <a:ext cx="438912" cy="43891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7420356" y="2743200"/>
            <a:ext cx="181965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Poppins"/>
              </a:rPr>
              <a:t>Art. 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11796" y="3337560"/>
            <a:ext cx="163677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F2A44"/>
                </a:solidFill>
                <a:latin typeface="Poppins"/>
              </a:rPr>
              <a:t>Monitoreo sin revisar el celular</a:t>
            </a:r>
          </a:p>
        </p:txBody>
      </p:sp>
      <p:sp>
        <p:nvSpPr>
          <p:cNvPr id="48" name="Down Arrow 47"/>
          <p:cNvSpPr/>
          <p:nvPr/>
        </p:nvSpPr>
        <p:spPr>
          <a:xfrm>
            <a:off x="8138160" y="4407408"/>
            <a:ext cx="384048" cy="274320"/>
          </a:xfrm>
          <a:prstGeom prst="downArrow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420356" y="4754880"/>
            <a:ext cx="18196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B6775"/>
                </a:solidFill>
                <a:latin typeface="Poppins"/>
              </a:rPr>
              <a:t>EN NUESTRO RI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466076" y="5047488"/>
            <a:ext cx="1728216" cy="941832"/>
          </a:xfrm>
          <a:prstGeom prst="roundRect">
            <a:avLst>
              <a:gd name="adj" fmla="val 14000"/>
            </a:avLst>
          </a:prstGeom>
          <a:solidFill>
            <a:srgbClr val="E6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11796" y="5093208"/>
            <a:ext cx="1636776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F2A44"/>
                </a:solidFill>
                <a:latin typeface="Poppins"/>
              </a:rPr>
              <a:t>Art. 69°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11796" y="5513832"/>
            <a:ext cx="1636776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1F2A37"/>
                </a:solidFill>
                <a:latin typeface="Poppins"/>
              </a:rPr>
              <a:t>Tít. III · Cap. X · Clima · SISEVE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528048" y="1828800"/>
            <a:ext cx="2002536" cy="4343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9528048" y="1828800"/>
            <a:ext cx="2002536" cy="1325880"/>
          </a:xfrm>
          <a:prstGeom prst="roundRect">
            <a:avLst>
              <a:gd name="adj" fmla="val 16000"/>
            </a:avLst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528048" y="2788920"/>
            <a:ext cx="2002536" cy="365760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172700" y="1993392"/>
            <a:ext cx="713232" cy="713232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f24e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9860" y="2130552"/>
            <a:ext cx="438912" cy="43891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9619488" y="2743200"/>
            <a:ext cx="181965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Poppins"/>
              </a:rPr>
              <a:t>Art. 12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10928" y="3337560"/>
            <a:ext cx="163677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F2A44"/>
                </a:solidFill>
                <a:latin typeface="Poppins"/>
              </a:rPr>
              <a:t>Medidas formativas y graduales</a:t>
            </a:r>
          </a:p>
        </p:txBody>
      </p:sp>
      <p:sp>
        <p:nvSpPr>
          <p:cNvPr id="60" name="Down Arrow 59"/>
          <p:cNvSpPr/>
          <p:nvPr/>
        </p:nvSpPr>
        <p:spPr>
          <a:xfrm>
            <a:off x="10337292" y="4407408"/>
            <a:ext cx="384048" cy="274320"/>
          </a:xfrm>
          <a:prstGeom prst="downArrow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19488" y="4754880"/>
            <a:ext cx="18196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B6775"/>
                </a:solidFill>
                <a:latin typeface="Poppins"/>
              </a:rPr>
              <a:t>EN NUESTRO RI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665208" y="5047488"/>
            <a:ext cx="1728216" cy="941832"/>
          </a:xfrm>
          <a:prstGeom prst="roundRect">
            <a:avLst>
              <a:gd name="adj" fmla="val 14000"/>
            </a:avLst>
          </a:prstGeom>
          <a:solidFill>
            <a:srgbClr val="E6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10928" y="5093208"/>
            <a:ext cx="1636776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F2A44"/>
                </a:solidFill>
                <a:latin typeface="Poppins"/>
              </a:rPr>
              <a:t>Arts. 141°–145°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10928" y="5513832"/>
            <a:ext cx="1636776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1F2A37"/>
                </a:solidFill>
                <a:latin typeface="Poppins"/>
              </a:rPr>
              <a:t>Tít. V · Faltas y medidas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1520" y="64190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Poppins"/>
              </a:rPr>
              <a:t>Reglamento de la Ley N.º 32385  ·  RI I.E.S. JEC “Rosaspata” (R.D. N.º 012-2026)  ·  GRUPO NATALIO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ose_1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4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0A526"/>
                </a:solidFill>
                <a:latin typeface="Poppins"/>
              </a:rPr>
              <a:t>SÍNTESIS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Poppins"/>
              </a:rPr>
              <a:t>Escuela y familia, juntas por un uso seguro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3429000" cy="2514600"/>
          </a:xfrm>
          <a:prstGeom prst="roundRect">
            <a:avLst>
              <a:gd name="adj" fmla="val 8000"/>
            </a:avLst>
          </a:prstGeom>
          <a:solidFill>
            <a:srgbClr val="FFFFFF">
              <a:alpha val="9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05840" y="2377439"/>
            <a:ext cx="731520" cy="73152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19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1288" y="2532887"/>
            <a:ext cx="420624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920240" y="2395727"/>
            <a:ext cx="2057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C7B"/>
                </a:solidFill>
                <a:latin typeface="Poppins"/>
              </a:rPr>
              <a:t>Cap. IV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24612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2A44"/>
                </a:solidFill>
                <a:latin typeface="Poppins"/>
              </a:rPr>
              <a:t>Orientar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730752"/>
            <a:ext cx="2880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B6775"/>
                </a:solidFill>
                <a:latin typeface="Poppins"/>
              </a:rPr>
              <a:t>A estudiantes y familias: beneficios, riesgos y uso responsable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103120"/>
            <a:ext cx="3429000" cy="2514600"/>
          </a:xfrm>
          <a:prstGeom prst="roundRect">
            <a:avLst>
              <a:gd name="adj" fmla="val 8000"/>
            </a:avLst>
          </a:prstGeom>
          <a:solidFill>
            <a:srgbClr val="FFFFFF">
              <a:alpha val="9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63440" y="2377439"/>
            <a:ext cx="731520" cy="731520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06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8888" y="2532887"/>
            <a:ext cx="420624" cy="4206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577840" y="2395727"/>
            <a:ext cx="2057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2A44"/>
                </a:solidFill>
                <a:latin typeface="Poppins"/>
              </a:rPr>
              <a:t>Cap. 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24612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2A44"/>
                </a:solidFill>
                <a:latin typeface="Poppins"/>
              </a:rPr>
              <a:t>Monitorear y corregir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730752"/>
            <a:ext cx="2880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B6775"/>
                </a:solidFill>
                <a:latin typeface="Poppins"/>
              </a:rPr>
              <a:t>Con respeto a la dignidad y medidas formativas y proporcionales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2103120"/>
            <a:ext cx="3429000" cy="2514600"/>
          </a:xfrm>
          <a:prstGeom prst="roundRect">
            <a:avLst>
              <a:gd name="adj" fmla="val 8000"/>
            </a:avLst>
          </a:prstGeom>
          <a:solidFill>
            <a:srgbClr val="FFFFFF">
              <a:alpha val="9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21040" y="2377439"/>
            <a:ext cx="731520" cy="731520"/>
          </a:xfrm>
          <a:prstGeom prst="ellipse">
            <a:avLst/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f015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6488" y="2532887"/>
            <a:ext cx="420624" cy="42062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235440" y="2395727"/>
            <a:ext cx="2057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5A3A"/>
                </a:solidFill>
                <a:latin typeface="Poppins"/>
              </a:rPr>
              <a:t>Cap. VI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324612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2A44"/>
                </a:solidFill>
                <a:latin typeface="Poppins"/>
              </a:rPr>
              <a:t>Acompañar en casa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3730752"/>
            <a:ext cx="2880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B6775"/>
                </a:solidFill>
                <a:latin typeface="Poppins"/>
              </a:rPr>
              <a:t>Los padres promueven el uso seguro fuera de la escuela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074920"/>
            <a:ext cx="6400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Poppins"/>
              </a:rPr>
              <a:t>¡Gracias!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0" y="5257800"/>
            <a:ext cx="3886200" cy="777240"/>
          </a:xfrm>
          <a:prstGeom prst="roundRect">
            <a:avLst>
              <a:gd name="adj" fmla="val 20000"/>
            </a:avLst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5257800"/>
            <a:ext cx="3886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F2A44"/>
                </a:solidFill>
                <a:latin typeface="Poppins"/>
              </a:rPr>
              <a:t>GRUPO NATALIO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172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DDE5EC"/>
                </a:solidFill>
                <a:latin typeface="Poppins"/>
              </a:rPr>
              <a:t>Maestría en Administración de la Educación · Escuela de Posgrado UNA Puno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