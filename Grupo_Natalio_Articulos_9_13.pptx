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Imagen generada con IA (Cloudflare Workers AI, modelo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IV: arts. 9-10; Capítulo V: arts. 11-12; Capítulo VI: art.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IV, artículo 9: Orientación a los estudiantes.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IV, artículo 10: Orientación a padres, madres y tutores.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V, artículo 11: Monitoreo de las II.EE. y programas.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V, artículo 12: Medidas correctivas a los estudiantes.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VI, artículo 13: Rol de padres, madres y tutores.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Reglamento Interno 2026 de la I.E.S. Jornada Escolar Completa “Rosaspata” (Rosaspata, Huancané, Puno), aprobado por R.D. N.º 012-2026-DIR-IES “R”/R. Propuestas: (1) Nuevo artículo sobre uso del celular en clase, actualizando la norma de convivencia 8 del Art. 134° y el deber 18 del Art. 136° (Tít. V, Cap. I). (2) Art. 9 → incluir el uso seguro y responsable del celular entre los programas de TOE del Art. 103° (Tít. IV, Cap. IV, Tutoría). (3) Arts. 10 y 13 → ampliar el Art. 152° (Tít. V, Cap. VI, De los Padres de Familia) con orientación a familias y compromisos de uso responsable en casa. (4) Art. 11 → en el Tít. III, Cap. X (Clima escolar), Art. 69° (SISEVE y cuaderno de incidencias): monitoreo con respeto a la dignidad, sin revisar el contenido de los celulares; ciberacoso según D.S. N.º 004-2018-MINEDU. (5) Art. 12 → revisar las faltas y medidas de los Arts. 141°–145° (falta leve 11, falta grave 17) para que sean claras, oportunas, reparadoras, formativas, razonables, proporcionales y graduales, informando a la familia.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9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2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80960" cy="6858000"/>
          </a:xfrm>
          <a:prstGeom prst="rect">
            <a:avLst/>
          </a:prstGeom>
          <a:solidFill>
            <a:srgbClr val="0F2A44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640080"/>
            <a:ext cx="109728" cy="91440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60350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UNIVERSIDAD NACIONAL DEL ALTIPLANO – ESCUELA DE POSGRADO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96926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E0A526"/>
                </a:solidFill>
                <a:latin typeface="Poppins"/>
              </a:rPr>
              <a:t>Maestría en Administración de la Educación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Poppins"/>
              </a:rPr>
              <a:t>Reglamento de la</a:t>
            </a:r>
          </a:p>
          <a:p>
            <a:pPr algn="l">
              <a:lnSpc>
                <a:spcPct val="95000"/>
              </a:lnSpc>
            </a:pPr>
            <a:r>
              <a:rPr sz="4000" b="1">
                <a:solidFill>
                  <a:srgbClr val="E0A526"/>
                </a:solidFill>
                <a:latin typeface="Poppins"/>
              </a:rPr>
              <a:t>Ley N.º 32385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6675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FFFFF"/>
                </a:solidFill>
                <a:latin typeface="Poppins"/>
              </a:rPr>
              <a:t>Ley que regula el uso de teléfonos celulares en todas las instituciones y programas educativos de la Educación Básica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76472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9D6E0"/>
                </a:solidFill>
                <a:latin typeface="Poppins"/>
              </a:rPr>
              <a:t>Aprobado por D.S. N.º 018-2026-MINEDU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251960"/>
            <a:ext cx="2971800" cy="502920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Capítulos IV, V y VI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4251960"/>
            <a:ext cx="2743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425196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2A44"/>
                </a:solidFill>
                <a:latin typeface="Poppins"/>
              </a:rPr>
              <a:t>Artículos 9 al 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74920"/>
            <a:ext cx="5852160" cy="914400"/>
          </a:xfrm>
          <a:prstGeom prst="roundRect">
            <a:avLst>
              <a:gd name="adj" fmla="val 18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5852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F2A44"/>
                </a:solidFill>
                <a:latin typeface="Poppins"/>
              </a:rPr>
              <a:t>GRUPO NATALIO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9963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Poppins"/>
              </a:rPr>
              <a:t>Puno, 2026</a:t>
            </a:r>
          </a:p>
        </p:txBody>
      </p:sp>
      <p:sp>
        <p:nvSpPr>
          <p:cNvPr id="18" name="Oval 17"/>
          <p:cNvSpPr/>
          <p:nvPr/>
        </p:nvSpPr>
        <p:spPr>
          <a:xfrm>
            <a:off x="8394192" y="1143000"/>
            <a:ext cx="3200400" cy="320040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es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252728"/>
            <a:ext cx="2980944" cy="2980944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211312" y="4553712"/>
            <a:ext cx="3566160" cy="548640"/>
          </a:xfrm>
          <a:prstGeom prst="roundRect">
            <a:avLst>
              <a:gd name="adj" fmla="val 5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4553712"/>
            <a:ext cx="3566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F2A44"/>
                </a:solidFill>
                <a:latin typeface="Poppins"/>
              </a:rPr>
              <a:t>Presidente · Grupo Natalio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B"/>
                </a:solidFill>
                <a:latin typeface="Poppins"/>
              </a:rPr>
              <a:t>MAPA DE LA EXPOSICIÓN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2A44"/>
                </a:solidFill>
                <a:latin typeface="Poppins"/>
              </a:rPr>
              <a:t>Tres capítulos, cinco artículos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834640"/>
            <a:ext cx="3429000" cy="3657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IV</a:t>
            </a:r>
          </a:p>
        </p:txBody>
      </p:sp>
      <p:pic>
        <p:nvPicPr>
          <p:cNvPr id="10" name="Picture 9" descr="f19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12848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5840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Orientación de las II.EE. y programas a estudiantes y padres de familia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4526280"/>
            <a:ext cx="621792" cy="62179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Orientación a los estudiantes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5330952"/>
            <a:ext cx="621792" cy="62179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30952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5330952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Orientación a padres, madres y tutores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7407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07407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7407" y="2834640"/>
            <a:ext cx="3429000" cy="36576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7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7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V</a:t>
            </a:r>
          </a:p>
        </p:txBody>
      </p:sp>
      <p:pic>
        <p:nvPicPr>
          <p:cNvPr id="23" name="Picture 22" descr="f06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212848"/>
            <a:ext cx="731520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681727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Monitoreo y aplicación de medidas correctivas por las II.EE. y programas</a:t>
            </a:r>
          </a:p>
        </p:txBody>
      </p:sp>
      <p:sp>
        <p:nvSpPr>
          <p:cNvPr id="25" name="Oval 24"/>
          <p:cNvSpPr/>
          <p:nvPr/>
        </p:nvSpPr>
        <p:spPr>
          <a:xfrm>
            <a:off x="4681727" y="4526280"/>
            <a:ext cx="621792" cy="621792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1727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1536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Monitoreo de las II.EE. y programas</a:t>
            </a:r>
          </a:p>
        </p:txBody>
      </p:sp>
      <p:sp>
        <p:nvSpPr>
          <p:cNvPr id="28" name="Oval 27"/>
          <p:cNvSpPr/>
          <p:nvPr/>
        </p:nvSpPr>
        <p:spPr>
          <a:xfrm>
            <a:off x="4681727" y="5330952"/>
            <a:ext cx="621792" cy="621792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7" y="5330952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31536" y="5330952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Medidas correctivas a los estudiantes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3296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83296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83296" y="2834640"/>
            <a:ext cx="3429000" cy="365760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57616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VI</a:t>
            </a:r>
          </a:p>
        </p:txBody>
      </p:sp>
      <p:pic>
        <p:nvPicPr>
          <p:cNvPr id="36" name="Picture 35" descr="f015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6" y="2212848"/>
            <a:ext cx="731520" cy="731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57616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Rol de los padres en el uso seguro y responsable por los menores a su cargo</a:t>
            </a:r>
          </a:p>
        </p:txBody>
      </p:sp>
      <p:sp>
        <p:nvSpPr>
          <p:cNvPr id="38" name="Oval 37"/>
          <p:cNvSpPr/>
          <p:nvPr/>
        </p:nvSpPr>
        <p:spPr>
          <a:xfrm>
            <a:off x="8357616" y="4526280"/>
            <a:ext cx="621792" cy="62179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7616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7424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Rol de padres, madres y tutores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9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0E7C7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IV  ·  ORIENTACIÓN A ESTUDIANTES Y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E7C7B"/>
                </a:solidFill>
                <a:latin typeface="Poppin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Orientación a los estudiantes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1691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c0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Las II.EE. y programas orientan a estudiantes de todos los niveles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9646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364274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3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Sobre el uso seguro y responsable del celular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62229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6857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24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Informan los beneficios y perjuicios de su uso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54812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" y="549440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2d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3953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564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En el marco de las competencias del currículo vigente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0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0E7C7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IV  ·  ORIENTACIÓN A ESTUDIANTES Y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E7C7B"/>
                </a:solidFill>
                <a:latin typeface="Poppin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Orientación a padres, madres y tutores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277063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94960" y="271691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15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2009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Orientar a las familias sobre el uso del celular por sus hijos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369646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94960" y="364274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eb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2009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Reducir la sobreexposición a internet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462229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94960" y="456857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05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82009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Combatir el ciberacoso y promover una sana convivencia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554812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94960" y="549440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04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82009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Cuidar la salud física y mental de los estudiantes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608" y="292608"/>
            <a:ext cx="173736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futbolista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365760"/>
            <a:ext cx="1554480" cy="19202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84048" y="2377440"/>
            <a:ext cx="1554480" cy="411480"/>
          </a:xfrm>
          <a:prstGeom prst="roundRect">
            <a:avLst>
              <a:gd name="adj" fmla="val 5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048" y="2377440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2A44"/>
                </a:solidFill>
                <a:latin typeface="Poppins"/>
              </a:rPr>
              <a:t>Carrillo · artículo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1_4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0F2A4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  ·  MONITOREO Y MEDIDAS CORRECTIVAS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F2A44"/>
                </a:solidFill>
                <a:latin typeface="Poppin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Monitoreo de las II.EE. y programas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1691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6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Vigilar el cumplimiento de la Ley y el reglamento con respeto a la dignidad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9646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364274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023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Sin revisar el contenido de los celulares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62229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6857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071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Ciberacoso: actuar según el D.S. N.º 004-2018-MINEDU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54812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" y="549440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e3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3953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564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Hechos de relevancia penal: comunicar de inmediato a las autoridades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2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0F2A4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  ·  MONITOREO Y MEDIDAS CORRECTIVAS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F2A44"/>
                </a:solidFill>
                <a:latin typeface="Poppin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Medidas correctivas a los estudiantes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277063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94960" y="271691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ea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2009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Se fijan en el reglamento interno, sin contravenir la 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369646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94960" y="364274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18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2009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Claras, oportunas, reparadoras y formativas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462229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94960" y="456857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24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82009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Razonables, proporcionales y graduales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554812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94960" y="549440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86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82009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Se informa a la familia con pertinencia cultural y lingüística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3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C85A3A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VI  ·  ROL DE LOS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C85A3A"/>
                </a:solidFill>
                <a:latin typeface="Poppin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Rol de padres, madres y tutores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76728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15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13888"/>
            <a:ext cx="438912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1952" y="2606040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Fuera de la escuela y sin actividades educativas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61816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026408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032504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0c0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169664"/>
            <a:ext cx="438912" cy="438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861816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01952" y="3861816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Padres, madres y tutores asumen el rol protagónico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17592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82184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288280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132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425440"/>
            <a:ext cx="438912" cy="4389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5117592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1952" y="5117592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Promueven el uso seguro y responsable del celular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B"/>
                </a:solidFill>
                <a:latin typeface="Poppins"/>
              </a:rPr>
              <a:t>PROPUESTA  ·  REGLAMENTO INTERNO 2026 DE LA I.E.S. JEC “ROSASPATA”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2A44"/>
                </a:solidFill>
                <a:latin typeface="Poppins"/>
              </a:rPr>
              <a:t>Cómo incorporarlo a nuestro Reglamento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788920"/>
            <a:ext cx="2002536" cy="36576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6172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10b_0F2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332" y="2130552"/>
            <a:ext cx="43891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2A44"/>
                </a:solidFill>
                <a:latin typeface="Poppins"/>
              </a:rPr>
              <a:t>Ley 32385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Nuevo artículo: celular en clase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540764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7C7B"/>
                </a:solidFill>
                <a:latin typeface="Poppins"/>
              </a:rPr>
              <a:t>Arts. 134°–136°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V · Cap. I · Normas y deberes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0652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930652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30652" y="2788920"/>
            <a:ext cx="2002536" cy="3657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75304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19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464" y="2130552"/>
            <a:ext cx="438912" cy="4389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22092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Art. 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13532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Tutoría: uso seguro del celular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739896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2092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67812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13532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7C7B"/>
                </a:solidFill>
                <a:latin typeface="Poppins"/>
              </a:rPr>
              <a:t>Art. 103°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13532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IV · Cap. IV · Tutoría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29783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29783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29783" y="2788920"/>
            <a:ext cx="2002536" cy="365760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774436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015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30552"/>
            <a:ext cx="438912" cy="43891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221223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Arts. 10 y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12664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Compromisos y orientación a padres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5939027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21223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66944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12664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5A3A"/>
                </a:solidFill>
                <a:latin typeface="Poppins"/>
              </a:rPr>
              <a:t>Art. 152°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12664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V · Cap. VI · Padres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28916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8916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28916" y="2788920"/>
            <a:ext cx="2002536" cy="36576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73568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06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0728" y="2130552"/>
            <a:ext cx="438912" cy="4389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420356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Art. 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1796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Monitoreo sin revisar el celular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8138160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20356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466076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11796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F2A44"/>
                </a:solidFill>
                <a:latin typeface="Poppins"/>
              </a:rPr>
              <a:t>Art. 69°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1796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III · Cap. X · Clima · SISEVE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28048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528048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28048" y="2788920"/>
            <a:ext cx="2002536" cy="36576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172700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24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9860" y="2130552"/>
            <a:ext cx="438912" cy="4389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19488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Art.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10928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Medidas formativas y graduales</a:t>
            </a:r>
          </a:p>
        </p:txBody>
      </p:sp>
      <p:sp>
        <p:nvSpPr>
          <p:cNvPr id="60" name="Down Arrow 59"/>
          <p:cNvSpPr/>
          <p:nvPr/>
        </p:nvSpPr>
        <p:spPr>
          <a:xfrm>
            <a:off x="10337292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19488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65208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10928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F2A44"/>
                </a:solidFill>
                <a:latin typeface="Poppins"/>
              </a:rPr>
              <a:t>Arts. 141°–145°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10928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V · Faltas y medidas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64190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RI I.E.S. JEC “Rosaspata” (R.D. N.º 012-2026)  ·  GRUPO NATALIO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e_1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0A526"/>
                </a:solidFill>
                <a:latin typeface="Poppins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oppins"/>
              </a:rPr>
              <a:t>Escuela y familia, juntas por un uso seguro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377439"/>
            <a:ext cx="731520" cy="7315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19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" y="2532887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202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C7B"/>
                </a:solidFill>
                <a:latin typeface="Poppins"/>
              </a:rPr>
              <a:t>Cap. IV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Orientar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A estudiantes y familias: beneficios, riesgos y uso responsable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63440" y="2377439"/>
            <a:ext cx="731520" cy="731520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06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2532887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778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A44"/>
                </a:solidFill>
                <a:latin typeface="Poppins"/>
              </a:rPr>
              <a:t>Cap. 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Monitorear y corregir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Con respeto a la dignidad y medidas formativas y proporcionales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21040" y="2377439"/>
            <a:ext cx="731520" cy="731520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015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2532887"/>
            <a:ext cx="420624" cy="4206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354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5A3A"/>
                </a:solidFill>
                <a:latin typeface="Poppins"/>
              </a:rPr>
              <a:t>Cap. VI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Acompañar en casa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Los padres promueven el uso seguro fuera de la escuela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7492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Poppins"/>
              </a:rPr>
              <a:t>¡Gracias!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5257800"/>
            <a:ext cx="3886200" cy="777240"/>
          </a:xfrm>
          <a:prstGeom prst="roundRect">
            <a:avLst>
              <a:gd name="adj" fmla="val 2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5257800"/>
            <a:ext cx="3886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F2A44"/>
                </a:solidFill>
                <a:latin typeface="Poppins"/>
              </a:rPr>
              <a:t>GRUPO NATALIO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DE5EC"/>
                </a:solidFill>
                <a:latin typeface="Poppins"/>
              </a:rPr>
              <a:t>Maestría en Administración de la Educación · Escuela de Posgrado UNA Puno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