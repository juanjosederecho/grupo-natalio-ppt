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Imagen generada con IA (Cloudflare Workers AI, modelo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IV: arts. 9-10; Capítulo V: arts. 11-12; Capítulo VI: art.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IV, artículo 9: Orientación a los estudiantes. Ideas parafraseadas del texto oficial. Imagen generada con IA (Cloudflare Workers AI,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IV, artículo 10: Orientación a padres, madres y tutores. Ideas parafraseadas del texto oficial. Imagen generada con IA (Cloudflare Workers AI,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V, artículo 11: Monitoreo de las II.EE. y programas. Ideas parafraseadas del texto oficial. Imagen generada con IA (Cloudflare Workers AI,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V, artículo 12: Medidas correctivas a los estudiantes. Ideas parafraseadas del texto oficial. Imagen generada con IA (Cloudflare Workers AI,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Capítulo VI, artículo 13: Rol de padres, madres y tutores. Ideas parafraseadas del texto oficial. Imagen generada con IA (Cloudflare Workers AI, leonardo/lucid-origin).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 Reglamento Interno 2026 de la I.E.S. Jornada Escolar Completa “Rosaspata” (Rosaspata, Huancané, Puno), aprobado por R.D. N.º 012-2026-DIR-IES “R”/R. Propuestas: (1) Nuevo artículo sobre uso del celular en clase, actualizando la norma de convivencia 8 del Art. 134° y el deber 18 del Art. 136° (Tít. V, Cap. I). (2) Art. 9 → incluir el uso seguro y responsable del celular entre los programas de TOE del Art. 103° (Tít. IV, Cap. IV, Tutoría). (3) Arts. 10 y 13 → ampliar el Art. 152° (Tít. V, Cap. VI, De los Padres de Familia) con orientación a familias y compromisos de uso responsable en casa. (4) Art. 11 → en el Tít. III, Cap. X (Clima escolar), Art. 69° (SISEVE y cuaderno de incidencias): monitoreo con respeto a la dignidad, sin revisar el contenido de los celulares; ciberacoso según D.S. N.º 004-2018-MINEDU. (5) Art. 12 → revisar las faltas y medidas de los Arts. 141°–145° (falta leve 11, falta grave 17) para que sean claras, oportunas, reparadoras, formativas, razonables, proporcionales y graduales, informando a la familia.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Reglamento de la Ley N.º 32385, aprobado por Decreto Supremo N.º 018-2026-MINEDU, Diario Oficial El Peruano, Normas Legales, 3 de octubre de 2026, pp. 13-16.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2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F2A44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40080"/>
            <a:ext cx="109728" cy="914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60350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UNIVERSIDAD NACIONAL DEL ALTIPLANO – ESCUELA DE POSGRADO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96926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A526"/>
                </a:solidFill>
                <a:latin typeface="Poppins"/>
              </a:rPr>
              <a:t>Maestría en Administración de la Educación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Poppins"/>
              </a:rPr>
              <a:t>Reglamento de la</a:t>
            </a:r>
          </a:p>
          <a:p>
            <a:pPr algn="l">
              <a:lnSpc>
                <a:spcPct val="95000"/>
              </a:lnSpc>
            </a:pPr>
            <a:r>
              <a:rPr sz="4000" b="1">
                <a:solidFill>
                  <a:srgbClr val="E0A526"/>
                </a:solidFill>
                <a:latin typeface="Poppins"/>
              </a:rPr>
              <a:t>Ley N.º 32385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FFFFFF"/>
                </a:solidFill>
                <a:latin typeface="Poppins"/>
              </a:rPr>
              <a:t>Ley que regula el uso de teléfonos celulares en todas las instituciones y programas educativos de la Educación Básica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7647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6E0"/>
                </a:solidFill>
                <a:latin typeface="Poppins"/>
              </a:rPr>
              <a:t>Aprobado por D.S. N.º 018-2026-MINEDU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2971800" cy="5029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Capítulos IV, V y 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2519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Poppins"/>
              </a:rPr>
              <a:t>Artículos 9 al 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5852160" cy="914400"/>
          </a:xfrm>
          <a:prstGeom prst="roundRect">
            <a:avLst>
              <a:gd name="adj" fmla="val 18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5852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F2A44"/>
                </a:solidFill>
                <a:latin typeface="Poppins"/>
              </a:rPr>
              <a:t>GRUPO NATALIO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9963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Poppins"/>
              </a:rPr>
              <a:t>Puno,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Poppins"/>
              </a:rPr>
              <a:t>MAPA DE LA EXPOSICIÓN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A44"/>
                </a:solidFill>
                <a:latin typeface="Poppins"/>
              </a:rPr>
              <a:t>Tres capítulos, cinco artículos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1234440"/>
          </a:xfrm>
          <a:prstGeom prst="roundRect">
            <a:avLst>
              <a:gd name="adj" fmla="val 1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429000" cy="3657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CAPÍTULO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oppins"/>
              </a:rPr>
              <a:t>IV</a:t>
            </a:r>
          </a:p>
        </p:txBody>
      </p:sp>
      <p:pic>
        <p:nvPicPr>
          <p:cNvPr id="10" name="Picture 9" descr="f19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12848"/>
            <a:ext cx="7315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33832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Orientación de las II.EE. y programas a estudiantes y padres de familia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526280"/>
            <a:ext cx="621792" cy="6217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4526280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oppins"/>
              </a:rPr>
              <a:t>Orientación a los estudiantes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330952"/>
            <a:ext cx="621792" cy="6217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3095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330952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oppins"/>
              </a:rPr>
              <a:t>Orientación a padres, madres y tutores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196596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07407" y="1965960"/>
            <a:ext cx="3429000" cy="1234440"/>
          </a:xfrm>
          <a:prstGeom prst="roundRect">
            <a:avLst>
              <a:gd name="adj" fmla="val 1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407" y="2834640"/>
            <a:ext cx="3429000" cy="36576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7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CAPÍTULO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7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oppins"/>
              </a:rPr>
              <a:t>V</a:t>
            </a:r>
          </a:p>
        </p:txBody>
      </p:sp>
      <p:pic>
        <p:nvPicPr>
          <p:cNvPr id="23" name="Picture 22" descr="f06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212848"/>
            <a:ext cx="731520" cy="7315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81727" y="33832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Monitoreo y aplicación de medidas correctivas por las II.EE. y programas</a:t>
            </a:r>
          </a:p>
        </p:txBody>
      </p:sp>
      <p:sp>
        <p:nvSpPr>
          <p:cNvPr id="25" name="Oval 24"/>
          <p:cNvSpPr/>
          <p:nvPr/>
        </p:nvSpPr>
        <p:spPr>
          <a:xfrm>
            <a:off x="4681727" y="4526280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7" y="4526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4526280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oppins"/>
              </a:rPr>
              <a:t>Monitoreo de las II.EE. y programas</a:t>
            </a:r>
          </a:p>
        </p:txBody>
      </p:sp>
      <p:sp>
        <p:nvSpPr>
          <p:cNvPr id="28" name="Oval 27"/>
          <p:cNvSpPr/>
          <p:nvPr/>
        </p:nvSpPr>
        <p:spPr>
          <a:xfrm>
            <a:off x="4681727" y="5330952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7" y="533095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1536" y="5330952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oppins"/>
              </a:rPr>
              <a:t>Medidas correctivas a los estudiantes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196596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1965960"/>
            <a:ext cx="3429000" cy="1234440"/>
          </a:xfrm>
          <a:prstGeom prst="roundRect">
            <a:avLst>
              <a:gd name="adj" fmla="val 18000"/>
            </a:avLst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2834640"/>
            <a:ext cx="3429000" cy="365760"/>
          </a:xfrm>
          <a:prstGeom prst="rect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CAPÍTULO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oppins"/>
              </a:rPr>
              <a:t>VI</a:t>
            </a:r>
          </a:p>
        </p:txBody>
      </p:sp>
      <p:pic>
        <p:nvPicPr>
          <p:cNvPr id="36" name="Picture 35" descr="f015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6" y="2212848"/>
            <a:ext cx="731520" cy="731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57616" y="33832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Rol de los padres en el uso seguro y responsable por los menores a su cargo</a:t>
            </a:r>
          </a:p>
        </p:txBody>
      </p:sp>
      <p:sp>
        <p:nvSpPr>
          <p:cNvPr id="38" name="Oval 37"/>
          <p:cNvSpPr/>
          <p:nvPr/>
        </p:nvSpPr>
        <p:spPr>
          <a:xfrm>
            <a:off x="8357616" y="4526280"/>
            <a:ext cx="621792" cy="621792"/>
          </a:xfrm>
          <a:prstGeom prst="ellipse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4526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4526280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oppins"/>
              </a:rPr>
              <a:t>Rol de padres, madres y tutores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9_2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7711135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11135" y="0"/>
            <a:ext cx="4480560" cy="6858000"/>
          </a:xfrm>
          <a:prstGeom prst="rect">
            <a:avLst/>
          </a:prstGeom>
          <a:solidFill>
            <a:srgbClr val="0E7C7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57200"/>
            <a:ext cx="6430975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5973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CAPÍTULO IV  ·  ORIENTACIÓN A ESTUDIANTES Y PADRES DE FAMILIA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600" b="1">
                <a:solidFill>
                  <a:srgbClr val="E0A526"/>
                </a:solidFill>
                <a:latin typeface="Poppins"/>
              </a:rPr>
              <a:t>ART.</a:t>
            </a:r>
          </a:p>
          <a:p>
            <a:pPr algn="l">
              <a:lnSpc>
                <a:spcPct val="85000"/>
              </a:lnSpc>
            </a:pPr>
            <a:r>
              <a:rPr sz="6000" b="1">
                <a:solidFill>
                  <a:srgbClr val="0E7C7B"/>
                </a:solidFill>
                <a:latin typeface="Poppi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234440"/>
            <a:ext cx="54864" cy="9601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097280"/>
            <a:ext cx="41906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A44"/>
                </a:solidFill>
                <a:latin typeface="Poppins"/>
              </a:rPr>
              <a:t>Orientación a los estudiantes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70632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16911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c0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854071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39535" y="260604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60604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Las II.EE. y programas orientan a estudiantes de todos los niveles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187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96461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64274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132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79901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9535" y="353187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53187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Sobre el uso seguro y responsable del celular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5770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22292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68571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24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705731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39535" y="445770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445770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Informan los beneficios y perjuicios de su uso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83529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548121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49440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02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631561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39535" y="5383529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" y="5383529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En el marco de las competencias del currículo vigente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6430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GRUPO NATALIO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0_2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E7C7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0" y="457200"/>
            <a:ext cx="6430975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457200"/>
            <a:ext cx="5973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CAPÍTULO IV  ·  ORIENTACIÓN A ESTUDIANTES Y PADRES DE FAMILIA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0515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600" b="1">
                <a:solidFill>
                  <a:srgbClr val="E0A526"/>
                </a:solidFill>
                <a:latin typeface="Poppins"/>
              </a:rPr>
              <a:t>ART.</a:t>
            </a:r>
          </a:p>
          <a:p>
            <a:pPr algn="l">
              <a:lnSpc>
                <a:spcPct val="85000"/>
              </a:lnSpc>
            </a:pPr>
            <a:r>
              <a:rPr sz="6000" b="1">
                <a:solidFill>
                  <a:srgbClr val="0E7C7B"/>
                </a:solidFill>
                <a:latin typeface="Poppin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234440"/>
            <a:ext cx="54864" cy="9601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097280"/>
            <a:ext cx="41906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A44"/>
                </a:solidFill>
                <a:latin typeface="Poppins"/>
              </a:rPr>
              <a:t>Orientación a padres, madres y tutores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60604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770632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94960" y="2716911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15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854071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20095" y="260604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0604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Orientar a las familias sobre el uso del celular por sus hijos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53187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3696461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4960" y="364274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1e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779901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20095" y="353187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53187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Reducir la sobreexposición a internet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45770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4622292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4960" y="4568571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05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4705731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820095" y="445770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445770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Combatir el ciberacoso y promover una sana convivencia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5383529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5548121"/>
            <a:ext cx="73152" cy="45948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94960" y="549440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004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5631561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20095" y="5383529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5383529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Cuidar la salud física y mental de los estudiantes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6419088"/>
            <a:ext cx="6430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GRUPO NATALIO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1_4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7711135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11135" y="0"/>
            <a:ext cx="4480560" cy="6858000"/>
          </a:xfrm>
          <a:prstGeom prst="rect">
            <a:avLst/>
          </a:prstGeom>
          <a:solidFill>
            <a:srgbClr val="0F2A4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57200"/>
            <a:ext cx="6430975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5973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CAPÍTULO V  ·  MONITOREO Y MEDIDAS CORRECTIVAS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600" b="1">
                <a:solidFill>
                  <a:srgbClr val="E0A526"/>
                </a:solidFill>
                <a:latin typeface="Poppins"/>
              </a:rPr>
              <a:t>ART.</a:t>
            </a:r>
          </a:p>
          <a:p>
            <a:pPr algn="l">
              <a:lnSpc>
                <a:spcPct val="85000"/>
              </a:lnSpc>
            </a:pPr>
            <a:r>
              <a:rPr sz="6000" b="1">
                <a:solidFill>
                  <a:srgbClr val="0F2A44"/>
                </a:solidFill>
                <a:latin typeface="Poppi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234440"/>
            <a:ext cx="54864" cy="9601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097280"/>
            <a:ext cx="41906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A44"/>
                </a:solidFill>
                <a:latin typeface="Poppins"/>
              </a:rPr>
              <a:t>Monitoreo de las II.EE. y programas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70632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16911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6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854071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39535" y="260604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60604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Vigilar el cumplimiento de la Ley y el reglamento con respeto a la dignidad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187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96461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642740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023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79901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9535" y="353187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53187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Sin revisar el contenido de los celulares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5770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22292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68571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071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705731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39535" y="445770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445770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Ciberacoso: actuar según el D.S. N.º 004-2018-MINEDU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83529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548121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494400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0e3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631561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39535" y="5383529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" y="5383529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Hechos de relevancia penal: comunicar de inmediato a las autoridades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6430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GRUPO NATALIO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2_2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F2A4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0" y="457200"/>
            <a:ext cx="6430975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457200"/>
            <a:ext cx="5973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CAPÍTULO V  ·  MONITOREO Y MEDIDAS CORRECTIVAS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0515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600" b="1">
                <a:solidFill>
                  <a:srgbClr val="E0A526"/>
                </a:solidFill>
                <a:latin typeface="Poppins"/>
              </a:rPr>
              <a:t>ART.</a:t>
            </a:r>
          </a:p>
          <a:p>
            <a:pPr algn="l">
              <a:lnSpc>
                <a:spcPct val="85000"/>
              </a:lnSpc>
            </a:pPr>
            <a:r>
              <a:rPr sz="6000" b="1">
                <a:solidFill>
                  <a:srgbClr val="0F2A44"/>
                </a:solidFill>
                <a:latin typeface="Poppi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234440"/>
            <a:ext cx="54864" cy="9601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097280"/>
            <a:ext cx="41906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A44"/>
                </a:solidFill>
                <a:latin typeface="Poppins"/>
              </a:rPr>
              <a:t>Medidas correctivas a los estudiantes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60604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770632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94960" y="2716911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e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854071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20095" y="260604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0604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Se fijan en el reglamento interno, sin contravenir la Ley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53187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3696461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4960" y="3642740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118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779901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20095" y="353187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53187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Claras, oportunas, reparadoras y formativas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457700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4622292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4960" y="4568571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24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4705731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820095" y="4457700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4457700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Razonables, proporcionales y graduales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5383529"/>
            <a:ext cx="6430975" cy="7886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5548121"/>
            <a:ext cx="73152" cy="45948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94960" y="5494400"/>
            <a:ext cx="566928" cy="56692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086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5631561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20095" y="5383529"/>
            <a:ext cx="548640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5383529"/>
            <a:ext cx="4446727" cy="7886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37"/>
                </a:solidFill>
                <a:latin typeface="Poppins"/>
              </a:rPr>
              <a:t>Se informa a la familia con pertinencia cultural y lingüística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6419088"/>
            <a:ext cx="6430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GRUPO NATALIO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3_2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7711135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11135" y="0"/>
            <a:ext cx="4480560" cy="6858000"/>
          </a:xfrm>
          <a:prstGeom prst="rect">
            <a:avLst/>
          </a:prstGeom>
          <a:solidFill>
            <a:srgbClr val="C85A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57200"/>
            <a:ext cx="6430975" cy="420624"/>
          </a:xfrm>
          <a:prstGeom prst="roundRect">
            <a:avLst>
              <a:gd name="adj" fmla="val 50000"/>
            </a:avLst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5973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CAPÍTULO VI  ·  ROL DE LOS PADRES DE FAMILIA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600" b="1">
                <a:solidFill>
                  <a:srgbClr val="E0A526"/>
                </a:solidFill>
                <a:latin typeface="Poppins"/>
              </a:rPr>
              <a:t>ART.</a:t>
            </a:r>
          </a:p>
          <a:p>
            <a:pPr algn="l">
              <a:lnSpc>
                <a:spcPct val="85000"/>
              </a:lnSpc>
            </a:pPr>
            <a:r>
              <a:rPr sz="6000" b="1">
                <a:solidFill>
                  <a:srgbClr val="C85A3A"/>
                </a:solidFill>
                <a:latin typeface="Poppi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234440"/>
            <a:ext cx="54864" cy="9601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097280"/>
            <a:ext cx="41906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A44"/>
                </a:solidFill>
                <a:latin typeface="Poppins"/>
              </a:rPr>
              <a:t>Rol de padres, madres y tutores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6430975" cy="1054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70632"/>
            <a:ext cx="73152" cy="725424"/>
          </a:xfrm>
          <a:prstGeom prst="rect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76728"/>
            <a:ext cx="713232" cy="713232"/>
          </a:xfrm>
          <a:prstGeom prst="ellipse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15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13888"/>
            <a:ext cx="438912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39535" y="2606040"/>
            <a:ext cx="548640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606040"/>
            <a:ext cx="4300423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A37"/>
                </a:solidFill>
                <a:latin typeface="Poppins"/>
              </a:rPr>
              <a:t>Fuera de la escuela y sin actividades educativas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61816"/>
            <a:ext cx="6430975" cy="1054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6408"/>
            <a:ext cx="73152" cy="725424"/>
          </a:xfrm>
          <a:prstGeom prst="rect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032504"/>
            <a:ext cx="713232" cy="713232"/>
          </a:xfrm>
          <a:prstGeom prst="ellipse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0c0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69664"/>
            <a:ext cx="438912" cy="438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9535" y="3861816"/>
            <a:ext cx="548640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3861816"/>
            <a:ext cx="4300423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A37"/>
                </a:solidFill>
                <a:latin typeface="Poppins"/>
              </a:rPr>
              <a:t>Padres, madres y tutores asumen el rol protagónico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17592"/>
            <a:ext cx="6430975" cy="1054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82184"/>
            <a:ext cx="73152" cy="725424"/>
          </a:xfrm>
          <a:prstGeom prst="rect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288280"/>
            <a:ext cx="713232" cy="713232"/>
          </a:xfrm>
          <a:prstGeom prst="ellipse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132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425440"/>
            <a:ext cx="438912" cy="4389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39535" y="5117592"/>
            <a:ext cx="548640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>
                <a:solidFill>
                  <a:srgbClr val="E0A526"/>
                </a:solidFill>
                <a:latin typeface="Poppi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117592"/>
            <a:ext cx="4300423" cy="1054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A37"/>
                </a:solidFill>
                <a:latin typeface="Poppins"/>
              </a:rPr>
              <a:t>Promueven el uso seguro y responsable del celular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6430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GRUPO NATALIO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Poppins"/>
              </a:rPr>
              <a:t>PROPUESTA  ·  REGLAMENTO INTERNO 2026 DE LA I.E.S. JEC “ROSASPATA”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44"/>
                </a:solidFill>
                <a:latin typeface="Poppins"/>
              </a:rPr>
              <a:t>Cómo incorporarlo a nuestro Reglamento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02536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02536" cy="1325880"/>
          </a:xfrm>
          <a:prstGeom prst="roundRect">
            <a:avLst>
              <a:gd name="adj" fmla="val 16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2002536" cy="36576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6172" y="1993392"/>
            <a:ext cx="713232" cy="7132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10b_0F2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32" y="2130552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74320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Poppins"/>
              </a:rPr>
              <a:t>Ley 32385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F2A44"/>
                </a:solidFill>
                <a:latin typeface="Poppins"/>
              </a:rPr>
              <a:t>Nuevo artículo: celular en clase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40764" y="4407408"/>
            <a:ext cx="384048" cy="274320"/>
          </a:xfrm>
          <a:prstGeom prst="downArrow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775"/>
                </a:solidFill>
                <a:latin typeface="Poppins"/>
              </a:rPr>
              <a:t>EN NUESTRO 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047488"/>
            <a:ext cx="1728216" cy="941832"/>
          </a:xfrm>
          <a:prstGeom prst="roundRect">
            <a:avLst>
              <a:gd name="adj" fmla="val 14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16367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E7C7B"/>
                </a:solidFill>
                <a:latin typeface="Poppins"/>
              </a:rPr>
              <a:t>Arts. 134°–136°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13832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F2A37"/>
                </a:solidFill>
                <a:latin typeface="Poppins"/>
              </a:rPr>
              <a:t>Tít. V · Cap. I · Normas y deberes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0652" y="1828800"/>
            <a:ext cx="2002536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30652" y="1828800"/>
            <a:ext cx="2002536" cy="132588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30652" y="2788920"/>
            <a:ext cx="2002536" cy="3657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75304" y="1993392"/>
            <a:ext cx="713232" cy="7132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19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2130552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22092" y="274320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Art.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33375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F2A44"/>
                </a:solidFill>
                <a:latin typeface="Poppins"/>
              </a:rPr>
              <a:t>Tutoría: uso seguro del celular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739896" y="4407408"/>
            <a:ext cx="384048" cy="274320"/>
          </a:xfrm>
          <a:prstGeom prst="downArrow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2092" y="475488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775"/>
                </a:solidFill>
                <a:latin typeface="Poppins"/>
              </a:rPr>
              <a:t>EN NUESTRO 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7812" y="5047488"/>
            <a:ext cx="1728216" cy="941832"/>
          </a:xfrm>
          <a:prstGeom prst="roundRect">
            <a:avLst>
              <a:gd name="adj" fmla="val 14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3532" y="5093208"/>
            <a:ext cx="16367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E7C7B"/>
                </a:solidFill>
                <a:latin typeface="Poppins"/>
              </a:rPr>
              <a:t>Art. 103°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13532" y="5513832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F2A37"/>
                </a:solidFill>
                <a:latin typeface="Poppins"/>
              </a:rPr>
              <a:t>Tít. IV · Cap. IV · Tutoría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9783" y="1828800"/>
            <a:ext cx="2002536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9783" y="1828800"/>
            <a:ext cx="2002536" cy="1325880"/>
          </a:xfrm>
          <a:prstGeom prst="roundRect">
            <a:avLst>
              <a:gd name="adj" fmla="val 16000"/>
            </a:avLst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9783" y="2788920"/>
            <a:ext cx="2002536" cy="365760"/>
          </a:xfrm>
          <a:prstGeom prst="rect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74436" y="1993392"/>
            <a:ext cx="713232" cy="7132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015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130552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21223" y="274320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Arts. 10 y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2664" y="33375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F2A44"/>
                </a:solidFill>
                <a:latin typeface="Poppins"/>
              </a:rPr>
              <a:t>Compromisos y orientación a padres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939027" y="4407408"/>
            <a:ext cx="384048" cy="274320"/>
          </a:xfrm>
          <a:prstGeom prst="downArrow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21223" y="475488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775"/>
                </a:solidFill>
                <a:latin typeface="Poppins"/>
              </a:rPr>
              <a:t>EN NUESTRO RI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66944" y="5047488"/>
            <a:ext cx="1728216" cy="941832"/>
          </a:xfrm>
          <a:prstGeom prst="roundRect">
            <a:avLst>
              <a:gd name="adj" fmla="val 14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2664" y="5093208"/>
            <a:ext cx="16367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5A3A"/>
                </a:solidFill>
                <a:latin typeface="Poppins"/>
              </a:rPr>
              <a:t>Art. 152°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2664" y="5513832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F2A37"/>
                </a:solidFill>
                <a:latin typeface="Poppins"/>
              </a:rPr>
              <a:t>Tít. V · Cap. VI · Padres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8916" y="1828800"/>
            <a:ext cx="2002536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28916" y="1828800"/>
            <a:ext cx="2002536" cy="1325880"/>
          </a:xfrm>
          <a:prstGeom prst="roundRect">
            <a:avLst>
              <a:gd name="adj" fmla="val 1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8916" y="2788920"/>
            <a:ext cx="2002536" cy="36576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73568" y="1993392"/>
            <a:ext cx="713232" cy="7132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06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2130552"/>
            <a:ext cx="438912" cy="43891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20356" y="274320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Art.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1796" y="33375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F2A44"/>
                </a:solidFill>
                <a:latin typeface="Poppins"/>
              </a:rPr>
              <a:t>Monitoreo sin revisar el celular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8138160" y="4407408"/>
            <a:ext cx="384048" cy="274320"/>
          </a:xfrm>
          <a:prstGeom prst="downArrow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20356" y="475488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775"/>
                </a:solidFill>
                <a:latin typeface="Poppins"/>
              </a:rPr>
              <a:t>EN NUESTRO RI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66076" y="5047488"/>
            <a:ext cx="1728216" cy="941832"/>
          </a:xfrm>
          <a:prstGeom prst="roundRect">
            <a:avLst>
              <a:gd name="adj" fmla="val 14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1796" y="5093208"/>
            <a:ext cx="16367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F2A44"/>
                </a:solidFill>
                <a:latin typeface="Poppins"/>
              </a:rPr>
              <a:t>Art. 69°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1796" y="5513832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F2A37"/>
                </a:solidFill>
                <a:latin typeface="Poppins"/>
              </a:rPr>
              <a:t>Tít. III · Cap. X · Clima · SISEVE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8048" y="1828800"/>
            <a:ext cx="2002536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528048" y="1828800"/>
            <a:ext cx="2002536" cy="1325880"/>
          </a:xfrm>
          <a:prstGeom prst="roundRect">
            <a:avLst>
              <a:gd name="adj" fmla="val 1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28048" y="2788920"/>
            <a:ext cx="2002536" cy="36576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72700" y="1993392"/>
            <a:ext cx="713232" cy="7132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24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9860" y="2130552"/>
            <a:ext cx="438912" cy="43891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619488" y="274320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Art.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33375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F2A44"/>
                </a:solidFill>
                <a:latin typeface="Poppins"/>
              </a:rPr>
              <a:t>Medidas formativas y graduales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0337292" y="4407408"/>
            <a:ext cx="384048" cy="274320"/>
          </a:xfrm>
          <a:prstGeom prst="downArrow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19488" y="475488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775"/>
                </a:solidFill>
                <a:latin typeface="Poppins"/>
              </a:rPr>
              <a:t>EN NUESTRO RI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65208" y="5047488"/>
            <a:ext cx="1728216" cy="941832"/>
          </a:xfrm>
          <a:prstGeom prst="roundRect">
            <a:avLst>
              <a:gd name="adj" fmla="val 14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5093208"/>
            <a:ext cx="16367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F2A44"/>
                </a:solidFill>
                <a:latin typeface="Poppins"/>
              </a:rPr>
              <a:t>Arts. 141°–145°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0928" y="5513832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F2A37"/>
                </a:solidFill>
                <a:latin typeface="Poppins"/>
              </a:rPr>
              <a:t>Tít. V · Faltas y medidas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Poppins"/>
              </a:rPr>
              <a:t>Reglamento de la Ley N.º 32385  ·  RI I.E.S. JEC “Rosaspata” (R.D. N.º 012-2026)  ·  GRUPO NATALIO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e_1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0A526"/>
                </a:solidFill>
                <a:latin typeface="Poppins"/>
              </a:rPr>
              <a:t>SÍNTESIS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Escuela y familia, juntas por un uso seguro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377439"/>
            <a:ext cx="731520" cy="7315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19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532887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20240" y="2395727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C7B"/>
                </a:solidFill>
                <a:latin typeface="Poppins"/>
              </a:rPr>
              <a:t>Cap. 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Poppins"/>
              </a:rPr>
              <a:t>Orientar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30752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A estudiantes y familias: beneficios, riesgos y uso responsable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2377439"/>
            <a:ext cx="731520" cy="73152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06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32887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7840" y="2395727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Poppins"/>
              </a:rPr>
              <a:t>Cap.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Poppins"/>
              </a:rPr>
              <a:t>Monitorear y corregir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30752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Con respeto a la dignidad y medidas formativas y proporcionales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377439"/>
            <a:ext cx="731520" cy="731520"/>
          </a:xfrm>
          <a:prstGeom prst="ellipse">
            <a:avLst/>
          </a:prstGeom>
          <a:solidFill>
            <a:srgbClr val="C8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015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532887"/>
            <a:ext cx="420624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5440" y="2395727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5A3A"/>
                </a:solidFill>
                <a:latin typeface="Poppins"/>
              </a:rPr>
              <a:t>Cap. 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Poppins"/>
              </a:rPr>
              <a:t>Acompañar en casa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30752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5"/>
                </a:solidFill>
                <a:latin typeface="Poppins"/>
              </a:rPr>
              <a:t>Los padres promueven el uso seguro fuera de la escuela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oppins"/>
              </a:rPr>
              <a:t>¡Gracias!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257800"/>
            <a:ext cx="3886200" cy="777240"/>
          </a:xfrm>
          <a:prstGeom prst="roundRect">
            <a:avLst>
              <a:gd name="adj" fmla="val 2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257800"/>
            <a:ext cx="3886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F2A44"/>
                </a:solidFill>
                <a:latin typeface="Poppins"/>
              </a:rPr>
              <a:t>GRUPO NATALIO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E5EC"/>
                </a:solidFill>
                <a:latin typeface="Poppins"/>
              </a:rPr>
              <a:t>Maestría en Administración de la Educación · Escuela de Posgrado UNA Puno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