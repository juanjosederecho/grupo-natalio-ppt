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Imagen generada con IA (Cloudflare Workers AI, modelo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IV: arts. 9-10; Capítulo V: arts. 11-12; Capítulo VI: art.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9: Orientación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10: Orientación a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11: Monitoreo de las II.EE. y programas.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12: Medidas correctivas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VI, artículo 13: Rol de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Reglamento Interno 2026 de la I.E.S. Jornada Escolar Completa “Rosaspata” (Rosaspata, Huancané, Puno), aprobado por R.D. N.º 012-2026-DIR-IES “R”/R. Propuestas: (1) Nuevo artículo sobre uso del celular en clase, actualizando la norma de convivencia 8 del Art. 134° y el deber 18 del Art. 136° (Tít. V, Cap. I). (2) Art. 9 → incluir el uso seguro y responsable del celular entre los programas de TOE del Art. 103° (Tít. IV, Cap. IV, Tutoría). (3) Arts. 10 y 13 → ampliar el Art. 152° (Tít. V, Cap. VI, De los Padres de Familia) con orientación a familias y compromisos de uso responsable en casa. (4) Art. 11 → en el Tít. III, Cap. X (Clima escolar), Art. 69° (SISEVE y cuaderno de incidencias): monitoreo con respeto a la dignidad, sin revisar el contenido de los celulares; ciberacoso según D.S. N.º 004-2018-MINEDU. (5) Art. 12 → revisar las faltas y medidas de los Arts. 141°–145° (falta leve 11, falta grave 17) para que sean claras, oportunas, reparadoras, formativas, razonables, proporcionales y graduales, informando a la familia.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9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2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2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80960" cy="6858000"/>
          </a:xfrm>
          <a:prstGeom prst="rect">
            <a:avLst/>
          </a:prstGeom>
          <a:solidFill>
            <a:srgbClr val="0F2A44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640080"/>
            <a:ext cx="109728" cy="91440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60350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UNIVERSIDAD NACIONAL DEL ALTIPLANO – ESCUELA DE POSGRADO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6926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E0A526"/>
                </a:solidFill>
                <a:latin typeface="Poppins"/>
              </a:rPr>
              <a:t>Maestría en Administración de la Educación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Reglamento de la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E0A526"/>
                </a:solidFill>
                <a:latin typeface="Poppins"/>
              </a:rPr>
              <a:t>Ley N.º 32385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FFFFF"/>
                </a:solidFill>
                <a:latin typeface="Poppins"/>
              </a:rPr>
              <a:t>Ley que regula el uso de teléfonos celulares en todas las instituciones y programas educativos de la Educación Básica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76472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9D6E0"/>
                </a:solidFill>
                <a:latin typeface="Poppins"/>
              </a:rPr>
              <a:t>Aprobado por D.S. N.º 018-2026-MINEDU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2971800" cy="50292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Capítulos IV, V y VI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743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42519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Artículos 9 al 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74920"/>
            <a:ext cx="5852160" cy="914400"/>
          </a:xfrm>
          <a:prstGeom prst="roundRect">
            <a:avLst>
              <a:gd name="adj" fmla="val 18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5852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963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Poppins"/>
              </a:rPr>
              <a:t>Puno, 2026</a:t>
            </a:r>
          </a:p>
        </p:txBody>
      </p:sp>
      <p:sp>
        <p:nvSpPr>
          <p:cNvPr id="18" name="Oval 17"/>
          <p:cNvSpPr/>
          <p:nvPr/>
        </p:nvSpPr>
        <p:spPr>
          <a:xfrm>
            <a:off x="8394192" y="1143000"/>
            <a:ext cx="3200400" cy="320040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es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252728"/>
            <a:ext cx="2980944" cy="298094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211312" y="4553712"/>
            <a:ext cx="3566160" cy="548640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4553712"/>
            <a:ext cx="3566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Presidente · Grupo Natalio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MAPA DE LA EXPOSICIÓN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2A44"/>
                </a:solidFill>
                <a:latin typeface="Poppins"/>
              </a:rPr>
              <a:t>Tres capítulos, cinco artículos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834640"/>
            <a:ext cx="3429000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IV</a:t>
            </a:r>
          </a:p>
        </p:txBody>
      </p:sp>
      <p:pic>
        <p:nvPicPr>
          <p:cNvPr id="10" name="Picture 9" descr="f19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12848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5840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Orientación de las II.EE. y programas a estudiantes y padres de familia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526280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5330952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7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07407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7407" y="2834640"/>
            <a:ext cx="3429000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7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</a:t>
            </a:r>
          </a:p>
        </p:txBody>
      </p:sp>
      <p:pic>
        <p:nvPicPr>
          <p:cNvPr id="23" name="Picture 2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212848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81727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Monitoreo y aplicación de medidas correctivas por las II.EE. y programas</a:t>
            </a:r>
          </a:p>
        </p:txBody>
      </p:sp>
      <p:sp>
        <p:nvSpPr>
          <p:cNvPr id="25" name="Oval 24"/>
          <p:cNvSpPr/>
          <p:nvPr/>
        </p:nvSpPr>
        <p:spPr>
          <a:xfrm>
            <a:off x="4681727" y="4526280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7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28" name="Oval 27"/>
          <p:cNvSpPr/>
          <p:nvPr/>
        </p:nvSpPr>
        <p:spPr>
          <a:xfrm>
            <a:off x="4681727" y="5330952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7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31536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83296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2834640"/>
            <a:ext cx="3429000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7616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VI</a:t>
            </a:r>
          </a:p>
        </p:txBody>
      </p:sp>
      <p:pic>
        <p:nvPicPr>
          <p:cNvPr id="36" name="Picture 35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6" y="2212848"/>
            <a:ext cx="731520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57616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Rol de los padres en el uso seguro y responsable por los menores a su cargo</a:t>
            </a:r>
          </a:p>
        </p:txBody>
      </p:sp>
      <p:sp>
        <p:nvSpPr>
          <p:cNvPr id="38" name="Oval 37"/>
          <p:cNvSpPr/>
          <p:nvPr/>
        </p:nvSpPr>
        <p:spPr>
          <a:xfrm>
            <a:off x="8357616" y="4526280"/>
            <a:ext cx="621792" cy="62179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Rol de padres, madres y tutores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9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c0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Las II.EE. y programas orientan a estudiantes de todos los niveles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3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Sobre el uso seguro y responsable del celular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Informan los beneficios y perjuicios de su uso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2d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En el marco de las competencias del currículo vigente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0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Orientar a las familias sobre el uso del celular por sus hijos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eb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Reducir la sobreexposición a internet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5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Combatir el ciberacoso y promover una sana convivencia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04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Cuidar la salud física y mental de los estudiantes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608" y="292608"/>
            <a:ext cx="173736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utbolista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365760"/>
            <a:ext cx="1554480" cy="19202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84048" y="2377440"/>
            <a:ext cx="1554480" cy="411480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237744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2A44"/>
                </a:solidFill>
                <a:latin typeface="Poppins"/>
              </a:rPr>
              <a:t>Carrillo · artículo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1_4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Vigilar el cumplimiento de la Ley y el reglamento con respeto a la dignidad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23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Sin revisar el contenido de los celulares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71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Ciberacoso: actuar según el D.S. N.º 004-2018-MINEDU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e3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Hechos de relevancia penal: comunicar de inmediato a las autoridades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2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ea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fijan en el reglamento interno, sin contravenir la 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18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Claras, oportunas, reparadoras y formativas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Razonables, proporcionales y graduales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86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informa a la familia con pertinencia cultural y lingüística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3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C85A3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VI  ·  ROL DE LOS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C85A3A"/>
                </a:solidFill>
                <a:latin typeface="Poppin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Rol de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76728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13888"/>
            <a:ext cx="438912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2606040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Fuera de la escuela y sin actividades educativas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61816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026408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032504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c0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69664"/>
            <a:ext cx="43891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861816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01952" y="3861816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Padres, madres y tutores asumen el rol protagónico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7592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82184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288280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132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425440"/>
            <a:ext cx="438912" cy="4389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5117592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1952" y="5117592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Promueven el uso seguro y responsable del celular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PROPUESTA  ·  REGLAMENTO INTERNO 2026 DE LA I.E.S. JEC “ROSASPATA”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2A44"/>
                </a:solidFill>
                <a:latin typeface="Poppins"/>
              </a:rPr>
              <a:t>Cómo incorporarlo a nuestro Reglamento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2002536" cy="36576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6172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10b_0F2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32" y="2130552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Ley 32385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Nuevo artículo: celular en clase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40764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7C7B"/>
                </a:solidFill>
                <a:latin typeface="Poppins"/>
              </a:rPr>
              <a:t>Arts. 134°–136°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Cap. I · Normas y deberes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0652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30652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30652" y="2788920"/>
            <a:ext cx="2002536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75304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2130552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22092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3532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Tutoría: uso seguro del celular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739896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2092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7812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3532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7C7B"/>
                </a:solidFill>
                <a:latin typeface="Poppins"/>
              </a:rPr>
              <a:t>Art. 103°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13532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IV · Cap. IV · Tutoría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9783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29783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29783" y="2788920"/>
            <a:ext cx="2002536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74436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30552"/>
            <a:ext cx="438912" cy="4389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21223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Arts. 10 y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12664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Compromisos y orientación a padres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939027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21223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66944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12664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5A3A"/>
                </a:solidFill>
                <a:latin typeface="Poppins"/>
              </a:rPr>
              <a:t>Art. 152°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2664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Cap. VI · Padres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28916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8916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28916" y="2788920"/>
            <a:ext cx="2002536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3568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06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2130552"/>
            <a:ext cx="438912" cy="4389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420356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1796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Monitoreo sin revisar el celular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8138160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20356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66076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11796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Art. 69°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1796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III · Cap. X · Clima · SISEVE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28048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28048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28048" y="2788920"/>
            <a:ext cx="2002536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172700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24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9860" y="2130552"/>
            <a:ext cx="438912" cy="4389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19488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928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Medidas formativas y graduales</a:t>
            </a:r>
          </a:p>
        </p:txBody>
      </p:sp>
      <p:sp>
        <p:nvSpPr>
          <p:cNvPr id="60" name="Down Arrow 59"/>
          <p:cNvSpPr/>
          <p:nvPr/>
        </p:nvSpPr>
        <p:spPr>
          <a:xfrm>
            <a:off x="10337292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19488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65208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10928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Arts. 141°–145°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10928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Faltas y medidas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64190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RI I.E.S. JEC “Rosaspata” (R.D. N.º 012-2026)  ·  GRUPO NATALIO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_1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0A526"/>
                </a:solidFill>
                <a:latin typeface="Poppins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oppins"/>
              </a:rPr>
              <a:t>Escuela y familia, juntas por un uso seguro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377439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532887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202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B"/>
                </a:solidFill>
                <a:latin typeface="Poppins"/>
              </a:rPr>
              <a:t>Cap. 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Orientar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A estudiantes y familias: beneficios, riesgos y uso responsable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3440" y="2377439"/>
            <a:ext cx="731520" cy="731520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06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532887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778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A44"/>
                </a:solidFill>
                <a:latin typeface="Poppins"/>
              </a:rPr>
              <a:t>Cap. 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Monitorear y corregir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Con respeto a la dignidad y medidas formativas y proporcionales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21040" y="2377439"/>
            <a:ext cx="731520" cy="731520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015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532887"/>
            <a:ext cx="420624" cy="4206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54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5A3A"/>
                </a:solidFill>
                <a:latin typeface="Poppins"/>
              </a:rPr>
              <a:t>Cap. 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Acompañar en casa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Los padres promueven el uso seguro fuera de la escuela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Poppins"/>
              </a:rPr>
              <a:t>¡Gracias!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5257800"/>
            <a:ext cx="3886200" cy="777240"/>
          </a:xfrm>
          <a:prstGeom prst="roundRect">
            <a:avLst>
              <a:gd name="adj" fmla="val 2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5257800"/>
            <a:ext cx="3886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DE5EC"/>
                </a:solidFill>
                <a:latin typeface="Poppins"/>
              </a:rPr>
              <a:t>Maestría en Administración de la Educación · Escuela de Posgrado UNA Puno · 2026</a:t>
            </a:r>
          </a:p>
        </p:txBody>
      </p:sp>
      <p:sp>
        <p:nvSpPr>
          <p:cNvPr id="28" name="Oval 27"/>
          <p:cNvSpPr/>
          <p:nvPr/>
        </p:nvSpPr>
        <p:spPr>
          <a:xfrm>
            <a:off x="4178808" y="4681728"/>
            <a:ext cx="1060704" cy="1060704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res_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4528" y="4727448"/>
            <a:ext cx="969264" cy="969264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767328" y="5797296"/>
            <a:ext cx="1883664" cy="301752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328" y="5797296"/>
            <a:ext cx="1883664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2A44"/>
                </a:solidFill>
                <a:latin typeface="Poppins"/>
              </a:rPr>
              <a:t>Presidente · Grupo Natalio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4681728"/>
            <a:ext cx="100584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utbolista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4718304"/>
            <a:ext cx="822960" cy="1014984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5760720" y="5797296"/>
            <a:ext cx="1645920" cy="301752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0720" y="5797296"/>
            <a:ext cx="16459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2A44"/>
                </a:solidFill>
                <a:latin typeface="Poppins"/>
              </a:rPr>
              <a:t>Carrillo · artículo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